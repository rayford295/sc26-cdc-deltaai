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7980b03ec24032" /><Relationship Type="http://schemas.openxmlformats.org/officeDocument/2006/relationships/extended-properties" Target="/docProps/app.xml" Id="R7835ed6d093f4950" /><Relationship Type="http://schemas.openxmlformats.org/officeDocument/2006/relationships/officeDocument" Target="/ppt/presentation.xml" Id="R66a8ad80a9114a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41cbcf022b46a0"/>
  </p:sldMasterIdLst>
  <p:notesMasterIdLst>
    <p:notesMasterId xmlns:r="http://schemas.openxmlformats.org/officeDocument/2006/relationships" r:id="Rae3b444af25241b6"/>
  </p:notesMasterIdLst>
  <p:sldIdLst>
    <p:sldId xmlns:r="http://schemas.openxmlformats.org/officeDocument/2006/relationships" id="256" r:id="R439e168359a045cc"/>
    <p:sldId xmlns:r="http://schemas.openxmlformats.org/officeDocument/2006/relationships" id="257" r:id="R60db8a433bea423f"/>
    <p:sldId xmlns:r="http://schemas.openxmlformats.org/officeDocument/2006/relationships" id="258" r:id="Ra81f7565cf3c439e"/>
    <p:sldId xmlns:r="http://schemas.openxmlformats.org/officeDocument/2006/relationships" id="259" r:id="R8974f1f0ff514793"/>
    <p:sldId xmlns:r="http://schemas.openxmlformats.org/officeDocument/2006/relationships" id="260" r:id="Raea1be0df5d1466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41cbcf022b46a0" /><Relationship Type="http://schemas.openxmlformats.org/officeDocument/2006/relationships/theme" Target="/ppt/theme/theme1.xml" Id="R8c41b621edf84eec" /><Relationship Type="http://schemas.openxmlformats.org/officeDocument/2006/relationships/notesMaster" Target="/ppt/notesMasters/notesMaster1.xml" Id="Rae3b444af25241b6" /><Relationship Type="http://schemas.openxmlformats.org/officeDocument/2006/relationships/presProps" Target="/ppt/presProps.xml" Id="Rb597041966424f53" /><Relationship Type="http://schemas.openxmlformats.org/officeDocument/2006/relationships/viewProps" Target="/ppt/viewProps.xml" Id="R9c16392981c447f4" /><Relationship Type="http://schemas.openxmlformats.org/officeDocument/2006/relationships/tableStyles" Target="/ppt/tableStyles.xml" Id="R8f93686731054cad" /><Relationship Type="http://schemas.openxmlformats.org/officeDocument/2006/relationships/slide" Target="/ppt/slides/slide1.xml" Id="R439e168359a045cc" /><Relationship Type="http://schemas.openxmlformats.org/officeDocument/2006/relationships/slide" Target="/ppt/slides/slide2.xml" Id="R60db8a433bea423f" /><Relationship Type="http://schemas.openxmlformats.org/officeDocument/2006/relationships/slide" Target="/ppt/slides/slide3.xml" Id="Ra81f7565cf3c439e" /><Relationship Type="http://schemas.openxmlformats.org/officeDocument/2006/relationships/slide" Target="/ppt/slides/slide4.xml" Id="R8974f1f0ff514793" /><Relationship Type="http://schemas.openxmlformats.org/officeDocument/2006/relationships/slide" Target="/ppt/slides/slide5.xml" Id="Raea1be0df5d146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4a6380bdb324d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6dea51352c41c1" /><Relationship Type="http://schemas.openxmlformats.org/officeDocument/2006/relationships/notesMaster" Target="/ppt/notesMasters/notesMaster1.xml" Id="R906a9d3dec9149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8e33cb2b06419f" /><Relationship Type="http://schemas.openxmlformats.org/officeDocument/2006/relationships/notesMaster" Target="/ppt/notesMasters/notesMaster1.xml" Id="Ra8c5d926d1514a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517694afb84092" /><Relationship Type="http://schemas.openxmlformats.org/officeDocument/2006/relationships/notesMaster" Target="/ppt/notesMasters/notesMaster1.xml" Id="R42a65cf3ed7141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deba6f736a4e8a" /><Relationship Type="http://schemas.openxmlformats.org/officeDocument/2006/relationships/notesMaster" Target="/ppt/notesMasters/notesMaster1.xml" Id="R792787736cee4b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f929ab521f4579" /><Relationship Type="http://schemas.openxmlformats.org/officeDocument/2006/relationships/notesMaster" Target="/ppt/notesMasters/notesMaster1.xml" Id="R6976e503d22c41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e15b94aa254cf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86eea7e10304ced" /><Relationship Type="http://schemas.openxmlformats.org/officeDocument/2006/relationships/slideLayout" Target="/ppt/slideLayouts/slideLayout2.xml" Id="Rfc48367ab5ad44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48367ab5ad44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228922749c4ad4" /><Relationship Type="http://schemas.openxmlformats.org/officeDocument/2006/relationships/image" Target="/ppt/media/image.jpeg" Id="Rbe5682b96e0f4a0c" /><Relationship Type="http://schemas.openxmlformats.org/officeDocument/2006/relationships/notesSlide" Target="/ppt/notesSlides/notesSlide1.xml" Id="Rbe402c621c2f46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b86decf07e4728" /><Relationship Type="http://schemas.openxmlformats.org/officeDocument/2006/relationships/notesSlide" Target="/ppt/notesSlides/notesSlide2.xml" Id="R3fa602ebe4cd4d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32f117b433462f" /><Relationship Type="http://schemas.openxmlformats.org/officeDocument/2006/relationships/notesSlide" Target="/ppt/notesSlides/notesSlide3.xml" Id="Rbca70dae4c2745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2b67db2240413a" /><Relationship Type="http://schemas.openxmlformats.org/officeDocument/2006/relationships/image" Target="/ppt/media/image2.jpeg" Id="R55db250edb4b4a97" /><Relationship Type="http://schemas.openxmlformats.org/officeDocument/2006/relationships/image" Target="/ppt/media/image3.jpeg" Id="R7a3e1b878db74249" /><Relationship Type="http://schemas.openxmlformats.org/officeDocument/2006/relationships/notesSlide" Target="/ppt/notesSlides/notesSlide4.xml" Id="Ra57b42d1e3a946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86f566e9b54ef0" /><Relationship Type="http://schemas.openxmlformats.org/officeDocument/2006/relationships/notesSlide" Target="/ppt/notesSlides/notesSlide5.xml" Id="R2323b4c10aca4ab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5CC255-8872-4349-9A05-8995D863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0B1B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4603E-6C36-416C-A277-C34AEE92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1635"/>
            <a:ext cx="1248251" cy="58674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2345C"/>
          </a:solidFill>
          <a:ln xmlns:a="http://schemas.openxmlformats.org/drawingml/2006/main" w="9525">
            <a:solidFill>
              <a:srgbClr val="1234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C52E4-E0CB-44D6-B261-A67E9765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33550"/>
            <a:ext cx="914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BFE8FF"/>
                </a:solidFill>
              </a:defRPr>
            </a:pPr>
            <a:r>
              <a:rPr sz="1425" b="1" i="0">
                <a:solidFill>
                  <a:srgbClr val="BFE8FF"/>
                </a:solidFill>
              </a:rPr>
              <a:t>SC26 CDC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4939E-4E25-4B1E-8ADB-484FFED3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451" y="1651635"/>
            <a:ext cx="1246918" cy="369570"/>
          </a:xfrm>
          <a:prstGeom xmlns:a="http://schemas.openxmlformats.org/drawingml/2006/main" prst="roundRect">
            <a:avLst>
              <a:gd name="adj" fmla="val 20619"/>
            </a:avLst>
          </a:prstGeom>
          <a:solidFill xmlns:a="http://schemas.openxmlformats.org/drawingml/2006/main">
            <a:srgbClr val="163B32"/>
          </a:solidFill>
          <a:ln xmlns:a="http://schemas.openxmlformats.org/drawingml/2006/main" w="9525">
            <a:solidFill>
              <a:srgbClr val="163B3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A0952-FAA0-436C-A55A-5E64F118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33550"/>
            <a:ext cx="89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C9F4E8"/>
                </a:solidFill>
              </a:defRPr>
            </a:pPr>
            <a:r>
              <a:rPr sz="1425" b="1" i="0">
                <a:solidFill>
                  <a:srgbClr val="C9F4E8"/>
                </a:solidFill>
              </a:rPr>
              <a:t>Yifan tiling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FCC4B-DA33-47E7-9C2B-A766BB8F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239000" cy="2400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 i="0">
                <a:solidFill>
                  <a:srgbClr val="FFFFFF"/>
                </a:solidFill>
              </a:defRPr>
            </a:pPr>
            <a:r>
              <a:rPr sz="5250" b="1" i="0">
                <a:solidFill>
                  <a:srgbClr val="FFFFFF"/>
                </a:solidFill>
              </a:rPr>
              <a:t>Tiling Makes Full-Resolution Compression Practical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BD8FC-E915-40A6-89B2-9963678E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72009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D7E3F5"/>
                </a:solidFill>
              </a:defRPr>
            </a:pPr>
            <a:r>
              <a:rPr sz="2175" b="0" i="0">
                <a:solidFill>
                  <a:srgbClr val="D7E3F5"/>
                </a:solidFill>
              </a:rPr>
              <a:t>DeltaAI GH200 pilot shows 512 x 512 tiles cut runtime and memory without obvious stitching artifacts in the checked sample.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D70C5-DBDF-4176-B893-7D88A5E1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3185"/>
            <a:ext cx="2742724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02848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25973-2B8B-49DF-B1D0-CF35F055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610350"/>
            <a:ext cx="2324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Runtime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9148D-61AE-452B-AA1B-FF4282E9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086600"/>
            <a:ext cx="2324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7DD3FC"/>
                </a:solidFill>
              </a:defRPr>
            </a:pPr>
            <a:r>
              <a:rPr sz="2550" b="1" i="0">
                <a:solidFill>
                  <a:srgbClr val="7DD3FC"/>
                </a:solidFill>
              </a:rPr>
              <a:t>86.01s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458C1-C4FE-476B-849F-F9742494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753350"/>
            <a:ext cx="2324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per image with 512 tiles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73851-6406-45D8-BE1E-71139B1D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074" y="6433185"/>
            <a:ext cx="2742724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02848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AE8B63-6FFD-4CD1-BCAA-46884E0E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610350"/>
            <a:ext cx="2324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1E99C-C948-46BA-8AED-8F1D3489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7086600"/>
            <a:ext cx="2324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86EFAC"/>
                </a:solidFill>
              </a:defRPr>
            </a:pPr>
            <a:r>
              <a:rPr sz="2550" b="1" i="0">
                <a:solidFill>
                  <a:srgbClr val="86EFAC"/>
                </a:solidFill>
              </a:rPr>
              <a:t>3.0 GB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EF8569-6906-4F98-9980-5C5CE2BA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7753350"/>
            <a:ext cx="2324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17.2x lower than no tiling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D0BCE-690E-4AED-8716-1D2940BD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248" y="6433185"/>
            <a:ext cx="2742724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02848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43DBF5-5828-4865-B6F2-0C061653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610350"/>
            <a:ext cx="2324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Artifacts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CA5306-2CC5-406C-BCD7-32EC2DA0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896100"/>
            <a:ext cx="23241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DBA74"/>
                </a:solidFill>
              </a:defRPr>
            </a:pPr>
            <a:r>
              <a:rPr sz="2550" b="1" i="0">
                <a:solidFill>
                  <a:srgbClr val="FDBA74"/>
                </a:solidFill>
              </a:rPr>
              <a:t>No obvious seams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15F2DF-6C09-4489-B051-96D8805F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7753350"/>
            <a:ext cx="2324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checked visual sample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0B2678-02FC-4898-AFDF-457E55F7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401050"/>
            <a:ext cx="857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B9C7DD"/>
                </a:solidFill>
              </a:defRPr>
            </a:pPr>
            <a:r>
              <a:rPr sz="1575" b="0" i="0">
                <a:solidFill>
                  <a:srgbClr val="B9C7DD"/>
                </a:solidFill>
              </a:rPr>
              <a:t>Prepared for the week ending May 12,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C52A08-A371-4635-8C10-8AB0CFF5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9321" y="666750"/>
            <a:ext cx="7754779" cy="8953500"/>
          </a:xfrm>
          <a:prstGeom xmlns:a="http://schemas.openxmlformats.org/drawingml/2006/main" prst="roundRect">
            <a:avLst>
              <a:gd name="adj" fmla="val 9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B5C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682b96e0f4a0c"/>
          <a:srcRect xmlns:a="http://schemas.openxmlformats.org/drawingml/2006/main" l="19884" t="0" r="198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80771" y="838200"/>
            <a:ext cx="7411879" cy="825246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D1E5B6-0511-4A9B-9246-42F13D1E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239250"/>
            <a:ext cx="741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Visual evidence: stitched 512 x 512 tiled output, image 100_0005_0001</a:t>
            </a:r>
          </a:p>
        </p:txBody>
      </p:sp>
    </p:spTree>
    <p:extLst>
      <p:ext uri="{BB962C8B-B14F-4D97-AF65-F5344CB8AC3E}">
        <p14:creationId xmlns:p14="http://schemas.microsoft.com/office/powerpoint/2010/main" val="2862886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7596FCD-C065-412F-9493-4655E304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F7F9F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705E9F-7787-4D75-B1E8-E98EFE2A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916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172033"/>
                </a:solidFill>
              </a:defRPr>
            </a:pPr>
            <a:r>
              <a:rPr sz="3750" b="1" i="0">
                <a:solidFill>
                  <a:srgbClr val="172033"/>
                </a:solidFill>
              </a:rPr>
              <a:t>This Week's Task Was Narrow and Testable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0653B8E-24DC-4105-9B25-B21A7204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1887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B667A"/>
                </a:solidFill>
              </a:defRPr>
            </a:pPr>
            <a:r>
              <a:rPr sz="1800" b="0" i="0">
                <a:solidFill>
                  <a:srgbClr val="5B667A"/>
                </a:solidFill>
              </a:rPr>
              <a:t>We focused only on Yifan's tiling path: split, compress independently, stitch, then check speed, memory, quality, and seams.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CD9B6-625E-4A56-9866-0677A9C3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2ED61-C454-4550-A2D9-7E50950B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0290"/>
            <a:ext cx="4100513" cy="5147310"/>
          </a:xfrm>
          <a:prstGeom xmlns:a="http://schemas.openxmlformats.org/drawingml/2006/main" prst="roundRect">
            <a:avLst>
              <a:gd name="adj" fmla="val 18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EA72E-21B2-46B0-B22F-F449A31A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8890"/>
            <a:ext cx="443484" cy="369570"/>
          </a:xfrm>
          <a:prstGeom xmlns:a="http://schemas.openxmlformats.org/drawingml/2006/main" prst="roundRect">
            <a:avLst>
              <a:gd name="adj" fmla="val 2061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4B993-4D10-4A03-9E77-866E558C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95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563EB"/>
                </a:solidFill>
              </a:defRPr>
            </a:pPr>
            <a:r>
              <a:rPr sz="1425" b="1" i="0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0F7E8-4DEE-423E-8D4C-B6DFD8AD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600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72033"/>
                </a:solidFill>
              </a:defRPr>
            </a:pPr>
            <a:r>
              <a:rPr sz="2325" b="1" i="0">
                <a:solidFill>
                  <a:srgbClr val="172033"/>
                </a:solidFill>
              </a:rPr>
              <a:t>Split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8BDCE-396A-48D3-A11D-2168FE87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36004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B667A"/>
                </a:solidFill>
              </a:defRPr>
            </a:pPr>
            <a:r>
              <a:rPr sz="1575" b="0" i="0">
                <a:solidFill>
                  <a:srgbClr val="5B667A"/>
                </a:solidFill>
              </a:rPr>
              <a:t>Full-resolution images are cropped to 5440 x 3648, then split into 512, 1024, or 2048 patches.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5CA97-4CA4-4F67-BAD3-B44EBAD4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763" y="2320290"/>
            <a:ext cx="4100513" cy="5147310"/>
          </a:xfrm>
          <a:prstGeom xmlns:a="http://schemas.openxmlformats.org/drawingml/2006/main" prst="roundRect">
            <a:avLst>
              <a:gd name="adj" fmla="val 18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F1318-6A85-4A25-8A56-6C43714B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5413" y="2548890"/>
            <a:ext cx="443484" cy="369570"/>
          </a:xfrm>
          <a:prstGeom xmlns:a="http://schemas.openxmlformats.org/drawingml/2006/main" prst="roundRect">
            <a:avLst>
              <a:gd name="adj" fmla="val 20619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F8875-56D9-455B-8A60-3DCA53E9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28900"/>
            <a:ext cx="95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F766E"/>
                </a:solidFill>
              </a:defRPr>
            </a:pPr>
            <a:r>
              <a:rPr sz="1425" b="1" i="0">
                <a:solidFill>
                  <a:srgbClr val="0F766E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517C7-1023-4EBB-8C22-B096C5A5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86100"/>
            <a:ext cx="3600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72033"/>
                </a:solidFill>
              </a:defRPr>
            </a:pPr>
            <a:r>
              <a:rPr sz="2325" b="1" i="0">
                <a:solidFill>
                  <a:srgbClr val="172033"/>
                </a:solidFill>
              </a:rPr>
              <a:t>Compress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E46C56-3E33-4AA4-AFF2-BFD9AE14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19500"/>
            <a:ext cx="36004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B667A"/>
                </a:solidFill>
              </a:defRPr>
            </a:pPr>
            <a:r>
              <a:rPr sz="1575" b="0" i="0">
                <a:solidFill>
                  <a:srgbClr val="5B667A"/>
                </a:solidFill>
              </a:rPr>
              <a:t>Each tile runs through the pretrained baseline_b02048 checkpoint with 65 denoising steps.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B516E-8817-431F-9814-723A7A3B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320290"/>
            <a:ext cx="4100513" cy="5147310"/>
          </a:xfrm>
          <a:prstGeom xmlns:a="http://schemas.openxmlformats.org/drawingml/2006/main" prst="roundRect">
            <a:avLst>
              <a:gd name="adj" fmla="val 18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31A266-A296-4258-8048-7F175DC6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548890"/>
            <a:ext cx="443484" cy="369570"/>
          </a:xfrm>
          <a:prstGeom xmlns:a="http://schemas.openxmlformats.org/drawingml/2006/main" prst="roundRect">
            <a:avLst>
              <a:gd name="adj" fmla="val 2061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78C14-7742-401C-9228-5D1571A8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28900"/>
            <a:ext cx="95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D97706"/>
                </a:solidFill>
              </a:defRPr>
            </a:pPr>
            <a:r>
              <a:rPr sz="1425" b="1" i="0">
                <a:solidFill>
                  <a:srgbClr val="D97706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88BD1D-C596-4427-A1D8-E029F4E4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86100"/>
            <a:ext cx="3600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72033"/>
                </a:solidFill>
              </a:defRPr>
            </a:pPr>
            <a:r>
              <a:rPr sz="2325" b="1" i="0">
                <a:solidFill>
                  <a:srgbClr val="172033"/>
                </a:solidFill>
              </a:rPr>
              <a:t>Stitch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D10557-C087-4D1E-8099-42EACC36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19500"/>
            <a:ext cx="36004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B667A"/>
                </a:solidFill>
              </a:defRPr>
            </a:pPr>
            <a:r>
              <a:rPr sz="1575" b="0" i="0">
                <a:solidFill>
                  <a:srgbClr val="5B667A"/>
                </a:solidFill>
              </a:rPr>
              <a:t>Tiles are assembled back into one image and saved with visual examples for inspection.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C7162E-97E1-4CC8-ABCD-052256B3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1688" y="2320290"/>
            <a:ext cx="4100513" cy="5147310"/>
          </a:xfrm>
          <a:prstGeom xmlns:a="http://schemas.openxmlformats.org/drawingml/2006/main" prst="roundRect">
            <a:avLst>
              <a:gd name="adj" fmla="val 18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51359A-06B8-4F19-8C69-1956BA9D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9338" y="2548890"/>
            <a:ext cx="443484" cy="369570"/>
          </a:xfrm>
          <a:prstGeom xmlns:a="http://schemas.openxmlformats.org/drawingml/2006/main" prst="roundRect">
            <a:avLst>
              <a:gd name="adj" fmla="val 20619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771B2A-7E09-4FF0-857A-8DC56903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2628900"/>
            <a:ext cx="95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563EB"/>
                </a:solidFill>
              </a:defRPr>
            </a:pPr>
            <a:r>
              <a:rPr sz="1425" b="1" i="0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D3E514-4A7B-4142-8017-56C57FC8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3086100"/>
            <a:ext cx="3600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72033"/>
                </a:solidFill>
              </a:defRPr>
            </a:pPr>
            <a:r>
              <a:rPr sz="2325" b="1" i="0">
                <a:solidFill>
                  <a:srgbClr val="172033"/>
                </a:solidFill>
              </a:rPr>
              <a:t>Measure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132B8D-2780-4709-8DD6-C653F9BD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3619500"/>
            <a:ext cx="36004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B667A"/>
                </a:solidFill>
              </a:defRPr>
            </a:pPr>
            <a:r>
              <a:rPr sz="1575" b="0" i="0">
                <a:solidFill>
                  <a:srgbClr val="5B667A"/>
                </a:solidFill>
              </a:rPr>
              <a:t>Summary records runtime, peak GPU memory, compression ratio, PSNR, SSIM, and seam metrics.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CB7AF4-E55E-4680-AE00-9AA70BE9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34300"/>
            <a:ext cx="4114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434EF3-CC5F-4A26-B532-B2CD461E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905750"/>
            <a:ext cx="369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Pilot size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E01202-DED9-4225-835F-5C0C84E8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48650"/>
            <a:ext cx="3695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563EB"/>
                </a:solidFill>
              </a:defRPr>
            </a:pPr>
            <a:r>
              <a:rPr sz="2550" b="1" i="0">
                <a:solidFill>
                  <a:srgbClr val="2563EB"/>
                </a:solidFill>
              </a:rPr>
              <a:t>8 images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7E3EED-B469-4E04-8CAE-AFC97FDC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782050"/>
            <a:ext cx="369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after one-image smoke test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3A4715-93E5-4763-8786-A1F0A2E6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734300"/>
            <a:ext cx="4114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2AF236-DE3D-47B7-BEBE-F61AAE94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7905750"/>
            <a:ext cx="369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GPU target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DB242F-DC2D-4F90-8538-CD5D1DB3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8248650"/>
            <a:ext cx="3695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F766E"/>
                </a:solidFill>
              </a:defRPr>
            </a:pPr>
            <a:r>
              <a:rPr sz="2550" b="1" i="0">
                <a:solidFill>
                  <a:srgbClr val="0F766E"/>
                </a:solidFill>
              </a:rPr>
              <a:t>GH200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2325A0-AB62-433D-B2F4-93E89A90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8782050"/>
            <a:ext cx="369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DeltaAI ghx4 partition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F0FFE6-A0EE-4078-BA0F-F85F0082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7734300"/>
            <a:ext cx="4114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FEAAEA-9EA8-41A5-89CB-ACA6CEFD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905750"/>
            <a:ext cx="369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Reference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490FA3-BE17-475E-88A6-3BF7B5B2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248650"/>
            <a:ext cx="3695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D97706"/>
                </a:solidFill>
              </a:defRPr>
            </a:pPr>
            <a:r>
              <a:rPr sz="2550" b="1" i="0">
                <a:solidFill>
                  <a:srgbClr val="D97706"/>
                </a:solidFill>
              </a:rPr>
              <a:t>No tiling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D7AE4A-EA42-48EE-8522-4F787653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782050"/>
            <a:ext cx="369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full-image baseline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6A05E2-2CD6-4717-991D-23E729CF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7734300"/>
            <a:ext cx="4114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5EB374-234D-4829-B036-DBB759B5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7905750"/>
            <a:ext cx="369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Tile sizes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743B25-EC4B-4079-90C4-E27C6843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8248650"/>
            <a:ext cx="3695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803D"/>
                </a:solidFill>
              </a:defRPr>
            </a:pPr>
            <a:r>
              <a:rPr sz="2550" b="1" i="0">
                <a:solidFill>
                  <a:srgbClr val="15803D"/>
                </a:solidFill>
              </a:rPr>
              <a:t>512 / 1024 / 2048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898DB8-412D-47EB-A2C6-A5B4036B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8782050"/>
            <a:ext cx="369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all completed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BD5DD8-3F54-42B6-B38B-DB31F691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05950"/>
            <a:ext cx="6896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Source: experiments/compression/slurm/03_tiling_sweep.sbatch and run stamp 20260512_yifan_tiling_pilot.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5F5051-7EA6-47C4-A25D-DF6315C7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9429750"/>
            <a:ext cx="2705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CDC tiling weekly progress | May 12, 2026</a:t>
            </a:r>
          </a:p>
        </p:txBody>
      </p:sp>
    </p:spTree>
    <p:extLst>
      <p:ext uri="{BB962C8B-B14F-4D97-AF65-F5344CB8AC3E}">
        <p14:creationId xmlns:p14="http://schemas.microsoft.com/office/powerpoint/2010/main" val="13727307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3F8DACB-88C5-4FB0-8D8F-BE9D021F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F7F9F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1ECF53-22EE-4AF4-A256-E9575A1C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916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172033"/>
                </a:solidFill>
              </a:defRPr>
            </a:pPr>
            <a:r>
              <a:rPr sz="3750" b="1" i="0">
                <a:solidFill>
                  <a:srgbClr val="172033"/>
                </a:solidFill>
              </a:rPr>
              <a:t>512 x 512 Is the Current Speed and Memory Winner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9537EB8-38EB-4BF0-AC89-D7CC0AA7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B667A"/>
                </a:solidFill>
              </a:defRPr>
            </a:pPr>
            <a:r>
              <a:rPr sz="1800" b="0" i="0">
                <a:solidFill>
                  <a:srgbClr val="5B667A"/>
                </a:solidFill>
              </a:rPr>
              <a:t>Across the eight-image pilot, smaller tiles gave the fastest runtime and the largest memory reduction.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F3CEA-710D-4525-AACF-EAC55CA7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BD725-AB30-496A-971E-82404A35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5970"/>
            <a:ext cx="7908608" cy="7117080"/>
          </a:xfrm>
          <a:prstGeom xmlns:a="http://schemas.openxmlformats.org/drawingml/2006/main" prst="roundRect">
            <a:avLst>
              <a:gd name="adj" fmla="val 1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ABDDF-435F-4F46-A366-2165386A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7410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72033"/>
                </a:solidFill>
              </a:defRPr>
            </a:pPr>
            <a:r>
              <a:rPr sz="2250" b="1" i="0">
                <a:solidFill>
                  <a:srgbClr val="172033"/>
                </a:solidFill>
              </a:rPr>
              <a:t>Pilot Summary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661E1-75F9-497A-8812-810EF86C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8920"/>
            <a:ext cx="1817762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5CC6A-F8F8-4D33-B4EF-6C2A4B2F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1581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346D0-1D02-44E0-A0CA-988B74F7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212" y="2788920"/>
            <a:ext cx="1138077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799D5-5A45-4AB9-BBF1-07E04A97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914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1364D-571D-471C-A8AA-0D46F091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289" y="2788920"/>
            <a:ext cx="129614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0D3AD-9B45-4AA9-8582-E11DF325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57500"/>
            <a:ext cx="106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C4CCD-A3DB-4565-9B75-D0320AE1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32" y="2788920"/>
            <a:ext cx="1138077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F6B09-D40D-4C17-9B90-545D9266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57500"/>
            <a:ext cx="914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Ratio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113CE-BBDA-46A1-80DA-F9EB0523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509" y="2788920"/>
            <a:ext cx="980011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4A2114-F168-4CC2-8E5F-94A7BDE4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742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PSNR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EE590B-3608-4F82-9DB2-6E60D954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3520" y="2788920"/>
            <a:ext cx="1043237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EBFB44-A7B1-4389-9CB5-3FB0BCB1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57500"/>
            <a:ext cx="819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SSIM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B9C43-C80E-4038-A183-D5EF1298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8020"/>
            <a:ext cx="1817762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EC7091-E9CD-490C-A6AA-C43580C7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1581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No tiling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E7CF88-2DAF-40DD-BBFC-1BE77F02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212" y="3208020"/>
            <a:ext cx="1138077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4A44EB-F337-4BBD-9D5B-B232D1C5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76600"/>
            <a:ext cx="91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143.55s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EEB106-06DF-48D2-B42A-772B6F50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289" y="3208020"/>
            <a:ext cx="129614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C14D38-42CC-42BF-87E5-4AFD6F49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76600"/>
            <a:ext cx="106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52.0 GB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ADCF52-2BF5-4945-89DB-6D2D4922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32" y="3208020"/>
            <a:ext cx="1138077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496A48-C266-4B8C-A7C8-FE7E8DCD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76600"/>
            <a:ext cx="91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72.74x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53CD1B-E165-4859-9065-DE9E7CC7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509" y="3208020"/>
            <a:ext cx="98001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AE1D95-EDB1-41AE-8566-A03622E1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7660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29.88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374610-FE12-4003-80CD-5F970978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3520" y="3208020"/>
            <a:ext cx="1043237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E87CF8-A139-430F-A670-CBC4BC53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76600"/>
            <a:ext cx="819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0.8847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9F4EDA-D809-4051-B3F6-5DE52098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22370"/>
            <a:ext cx="1817762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E929CA-E972-49F9-B6C6-47DCF9C9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1581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512 tile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B9BC94-1F7F-4227-BB77-1D4C1FF6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212" y="3722370"/>
            <a:ext cx="1138077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196023-8D89-4800-B59E-252A497B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90950"/>
            <a:ext cx="91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86.01s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736416-9E34-4471-B58E-F2D82E34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289" y="3722370"/>
            <a:ext cx="129614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84EDDC-C94C-4D71-82E6-DB30E615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90950"/>
            <a:ext cx="106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3.0 GB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243A1F-0EF4-443A-8723-574F2255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32" y="3722370"/>
            <a:ext cx="1138077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3D4088-C15B-41A4-898D-4E16205F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90950"/>
            <a:ext cx="91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68.79x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6BBC40-E34E-4D69-8D6C-C26839D2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509" y="3722370"/>
            <a:ext cx="98001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DB9278-1635-4DA9-81FF-4F6506C2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909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29.73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EEA64D-B5A0-4694-87C9-8DD98FF0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3520" y="3722370"/>
            <a:ext cx="1043237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F6DF00-94FE-4C3E-A43B-AA3AB609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90950"/>
            <a:ext cx="819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0.8822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13646C-A1C2-47A8-B7B9-860E1CDC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36720"/>
            <a:ext cx="1817762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B426D1-3111-4779-9CB2-861CB30A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1581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1024 tile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BB0E1E-4FC1-4917-8C8F-9FB06386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212" y="4236720"/>
            <a:ext cx="1138077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B54440-AE46-40E5-83ED-9D2CF034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05300"/>
            <a:ext cx="91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88.35s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C39B71-713D-47CE-8BC6-2A83F6DD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289" y="4236720"/>
            <a:ext cx="129614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E7759C-D294-4B01-B6CF-E9A21992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05300"/>
            <a:ext cx="106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11.2 GB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8D621C-A211-4AD2-B642-123AFD91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32" y="4236720"/>
            <a:ext cx="1138077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1518970-E172-4062-9B30-404E6F27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05300"/>
            <a:ext cx="91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66.11x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CE2E82-8CE7-4884-AC78-54784446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509" y="4236720"/>
            <a:ext cx="98001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E1F263A-B892-49D2-B4AD-820D6DB4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0530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29.82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03BAA04-3BB3-4323-A447-6E41B9C5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3520" y="4236720"/>
            <a:ext cx="1043237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D2972C0-C3E1-4070-A58B-31E26ABC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05300"/>
            <a:ext cx="819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0.8835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2199994-6900-43A5-9110-A8B5B931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51070"/>
            <a:ext cx="1817762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450EFE6-6099-438E-B77B-A349803D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1581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2048 tile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0775ED0-2B47-4B33-8205-FBC6F8FC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212" y="4751070"/>
            <a:ext cx="1138077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BF5449A-32A2-4E4A-8462-FFE9F243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19650"/>
            <a:ext cx="91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95.39s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CA0D8CB-079B-4174-BD5F-561D93AA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289" y="4751070"/>
            <a:ext cx="129614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9431E6B-F3D8-4E64-8861-B6BF4ADD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9650"/>
            <a:ext cx="106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43.8 GB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65A4D9D-1E4F-437A-81EB-8BDC8162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32" y="4751070"/>
            <a:ext cx="1138077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622BE3A-4F6C-4533-B572-B49C8D5F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819650"/>
            <a:ext cx="91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66.04x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8994BFD-E30D-4C8A-9B0C-09D5F11D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509" y="4751070"/>
            <a:ext cx="98001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673CFC5-C5EF-4A15-9383-7605A606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196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29.90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584745F-B881-4080-ADC6-D988CDEE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3520" y="4751070"/>
            <a:ext cx="1043237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2C24988-7F5E-445F-B193-8DB33FCF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819650"/>
            <a:ext cx="819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0.8841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DB31418-36F2-4E9C-822D-2A2F38F4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1108" y="2045970"/>
            <a:ext cx="8741093" cy="7117080"/>
          </a:xfrm>
          <a:prstGeom xmlns:a="http://schemas.openxmlformats.org/drawingml/2006/main" prst="roundRect">
            <a:avLst>
              <a:gd name="adj" fmla="val 1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062437B-E1BA-4750-9ECB-5AF1788A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66950"/>
            <a:ext cx="8248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72033"/>
                </a:solidFill>
              </a:defRPr>
            </a:pPr>
            <a:r>
              <a:rPr sz="2250" b="1" i="0">
                <a:solidFill>
                  <a:srgbClr val="172033"/>
                </a:solidFill>
              </a:rPr>
              <a:t>What the Numbers Say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706CD03-5E8E-46FB-AEBC-BDAE40E8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1504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033"/>
                </a:solidFill>
              </a:defRPr>
            </a:pPr>
            <a:r>
              <a:rPr sz="1500" b="1" i="0">
                <a:solidFill>
                  <a:srgbClr val="172033"/>
                </a:solidFill>
              </a:rPr>
              <a:t>No tiling runtime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5F25EAC-5F49-499E-B0AB-811F56E2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2781300"/>
            <a:ext cx="419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5B667A"/>
                </a:solidFill>
              </a:defRPr>
            </a:pPr>
            <a:r>
              <a:rPr sz="1500" b="1" i="0">
                <a:solidFill>
                  <a:srgbClr val="5B667A"/>
                </a:solidFill>
              </a:rPr>
              <a:t>144s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69DD944-EEBF-4D64-ADAC-B9934E1B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52800"/>
            <a:ext cx="49530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5B667A"/>
          </a:solidFill>
          <a:ln xmlns:a="http://schemas.openxmlformats.org/drawingml/2006/main" w="9525">
            <a:solidFill>
              <a:srgbClr val="5B667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29B24AA-D3F7-466D-BD92-4D54E6EB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0"/>
            <a:ext cx="327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2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FC35570-35CA-48D2-80F6-C1CB8FEA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81400"/>
            <a:ext cx="8248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B667A"/>
                </a:solidFill>
              </a:defRPr>
            </a:pPr>
            <a:r>
              <a:rPr sz="1125" b="0" i="0">
                <a:solidFill>
                  <a:srgbClr val="5B667A"/>
                </a:solidFill>
              </a:rPr>
              <a:t>Full-image reference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DE8048E-7581-4271-A1B7-716C8558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38600"/>
            <a:ext cx="1390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033"/>
                </a:solidFill>
              </a:defRPr>
            </a:pPr>
            <a:r>
              <a:rPr sz="1500" b="1" i="0">
                <a:solidFill>
                  <a:srgbClr val="172033"/>
                </a:solidFill>
              </a:rPr>
              <a:t>512 tile runtime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F87F094-751B-4102-B018-55944FDC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00" y="3924300"/>
            <a:ext cx="476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766E"/>
                </a:solidFill>
              </a:defRPr>
            </a:pPr>
            <a:r>
              <a:rPr sz="1500" b="1" i="0">
                <a:solidFill>
                  <a:srgbClr val="0F766E"/>
                </a:solidFill>
              </a:rPr>
              <a:t>86.0s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8D41366-183E-4A9B-B31A-2B0A235F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95800"/>
            <a:ext cx="29718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D98E331-50E1-4AFA-8C03-37C36839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572000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2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6065951-D40F-4883-9CBD-319CE604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24400"/>
            <a:ext cx="8248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B667A"/>
                </a:solidFill>
              </a:defRPr>
            </a:pPr>
            <a:r>
              <a:rPr sz="1125" b="0" i="0">
                <a:solidFill>
                  <a:srgbClr val="5B667A"/>
                </a:solidFill>
              </a:rPr>
              <a:t>40.1% lower wall time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5A5C7D3-D6CE-43A5-B46D-C3D59DEF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1543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033"/>
                </a:solidFill>
              </a:defRPr>
            </a:pPr>
            <a:r>
              <a:rPr sz="1500" b="1" i="0">
                <a:solidFill>
                  <a:srgbClr val="172033"/>
                </a:solidFill>
              </a:rPr>
              <a:t>No tiling memory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E8CE586-2357-4610-A5AC-C33C8BE7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5067300"/>
            <a:ext cx="704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5B667A"/>
                </a:solidFill>
              </a:defRPr>
            </a:pPr>
            <a:r>
              <a:rPr sz="1500" b="1" i="0">
                <a:solidFill>
                  <a:srgbClr val="5B667A"/>
                </a:solidFill>
              </a:rPr>
              <a:t>52.0 GB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68BABD5-B010-425B-B923-DDF8DBDB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638800"/>
            <a:ext cx="49530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5B667A"/>
          </a:solidFill>
          <a:ln xmlns:a="http://schemas.openxmlformats.org/drawingml/2006/main" w="9525">
            <a:solidFill>
              <a:srgbClr val="5B667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A996936-500E-4E72-A68B-8E0B58BA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5715000"/>
            <a:ext cx="327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2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81B935B-DEEC-48BA-9062-30B38F96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867400"/>
            <a:ext cx="8248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B667A"/>
                </a:solidFill>
              </a:defRPr>
            </a:pPr>
            <a:r>
              <a:rPr sz="1125" b="0" i="0">
                <a:solidFill>
                  <a:srgbClr val="5B667A"/>
                </a:solidFill>
              </a:rPr>
              <a:t>Full-image reference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BD7F50B-4867-46D1-906A-083EE21A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210300"/>
            <a:ext cx="1447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033"/>
                </a:solidFill>
              </a:defRPr>
            </a:pPr>
            <a:r>
              <a:rPr sz="1500" b="1" i="0">
                <a:solidFill>
                  <a:srgbClr val="172033"/>
                </a:solidFill>
              </a:rPr>
              <a:t>512 tile memory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628F640-DD3C-4A5F-AD3D-2469FC45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6210300"/>
            <a:ext cx="5905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803D"/>
                </a:solidFill>
              </a:defRPr>
            </a:pPr>
            <a:r>
              <a:rPr sz="1500" b="1" i="0">
                <a:solidFill>
                  <a:srgbClr val="15803D"/>
                </a:solidFill>
              </a:rPr>
              <a:t>3.0 GB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08026F8-D314-4DA8-9260-7B7E6F8D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781800"/>
            <a:ext cx="28575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4231DAC-A539-4841-BF99-7E66DE02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858000"/>
            <a:ext cx="792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F2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BA654E7-BABB-4F4F-AADA-068EEDD0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7010400"/>
            <a:ext cx="8248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B667A"/>
                </a:solidFill>
              </a:defRPr>
            </a:pPr>
            <a:r>
              <a:rPr sz="1125" b="0" i="0">
                <a:solidFill>
                  <a:srgbClr val="5B667A"/>
                </a:solidFill>
              </a:rPr>
              <a:t>17.2x lower peak GPU memory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92D7C9F-AB37-4C44-A5A7-45284E2F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7353300"/>
            <a:ext cx="8248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B667A"/>
                </a:solidFill>
              </a:defRPr>
            </a:pPr>
            <a:r>
              <a:rPr sz="1575" b="0" i="0">
                <a:solidFill>
                  <a:srgbClr val="5B667A"/>
                </a:solidFill>
              </a:rPr>
              <a:t>Trade-off: compression ratio decreases from 72.74x to 68.79x, while PSNR and SSIM remain close to no tiling.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CA289D2-51C8-4A11-97ED-567D9171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05950"/>
            <a:ext cx="485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Source: results/2026-05-12-yifan-tiling-pilot/tables/combined_summary.csv.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475C09B-3FFA-4064-85B7-2EE1478C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9429750"/>
            <a:ext cx="2705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CDC tiling weekly progress | May 12, 2026</a:t>
            </a:r>
          </a:p>
        </p:txBody>
      </p:sp>
    </p:spTree>
    <p:extLst>
      <p:ext uri="{BB962C8B-B14F-4D97-AF65-F5344CB8AC3E}">
        <p14:creationId xmlns:p14="http://schemas.microsoft.com/office/powerpoint/2010/main" val="4442244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4DB1B61-67B2-4154-8ECB-00BB7562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F7F9F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3AB37F-8362-4EE8-8C5C-B1BE25DA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916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172033"/>
                </a:solidFill>
              </a:defRPr>
            </a:pPr>
            <a:r>
              <a:rPr sz="3750" b="1" i="0">
                <a:solidFill>
                  <a:srgbClr val="172033"/>
                </a:solidFill>
              </a:rPr>
              <a:t>Visual Check Did Not Show New Grid-Like Seams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74FAF9D-AA7C-4445-BE94-7CBF5096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2230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B667A"/>
                </a:solidFill>
              </a:defRPr>
            </a:pPr>
            <a:r>
              <a:rPr sz="1800" b="0" i="0">
                <a:solidFill>
                  <a:srgbClr val="5B667A"/>
                </a:solidFill>
              </a:rPr>
              <a:t>The seam-region crop compares the same road/intersection area across no tiling and the recommended 512-tile output.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7DE48-4AC5-4684-9D69-9224A19B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89465-1F72-41D0-91FB-A0125FE1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5970"/>
            <a:ext cx="8334375" cy="5334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CA5CE-18E7-48B9-89F4-E2BDE10C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8001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033"/>
                </a:solidFill>
              </a:defRPr>
            </a:pPr>
            <a:r>
              <a:rPr sz="1800" b="1" i="0">
                <a:solidFill>
                  <a:srgbClr val="172033"/>
                </a:solidFill>
              </a:rPr>
              <a:t>No tiling reference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b250edb4b4a97"/>
          <a:stretch xmlns:a="http://schemas.openxmlformats.org/drawingml/2006/main"/>
        </p:blipFill>
        <p:spPr>
          <a:xfrm xmlns:a="http://schemas.openxmlformats.org/drawingml/2006/main">
            <a:off x="2767013" y="2586990"/>
            <a:ext cx="4171950" cy="4171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49C4F-A378-4124-9D45-D6ABFEAC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045970"/>
            <a:ext cx="8334375" cy="5334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A54D1-110E-43D8-B213-B1BBD7C7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90750"/>
            <a:ext cx="8001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033"/>
                </a:solidFill>
              </a:defRPr>
            </a:pPr>
            <a:r>
              <a:rPr sz="1800" b="1" i="0">
                <a:solidFill>
                  <a:srgbClr val="172033"/>
                </a:solidFill>
              </a:rPr>
              <a:t>512 tile stitched output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e1b878db74249"/>
          <a:stretch xmlns:a="http://schemas.openxmlformats.org/drawingml/2006/main"/>
        </p:blipFill>
        <p:spPr>
          <a:xfrm xmlns:a="http://schemas.openxmlformats.org/drawingml/2006/main">
            <a:off x="11349038" y="2586990"/>
            <a:ext cx="4171950" cy="41719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AF530-6D71-4B37-A3AD-6FF93A32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46670"/>
            <a:ext cx="5537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DA2B8-7CC2-4049-80E7-5813E144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81050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Seam metric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02153A-F8D7-4BA1-A22A-AAB2A69B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172450"/>
            <a:ext cx="5124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F766E"/>
                </a:solidFill>
              </a:defRPr>
            </a:pPr>
            <a:r>
              <a:rPr sz="2550" b="1" i="0">
                <a:solidFill>
                  <a:srgbClr val="0F766E"/>
                </a:solidFill>
              </a:rPr>
              <a:t>0.0278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367824-0C9D-4A04-A4BE-C97FE4A4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70585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512-tile average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99E0A9-16E2-4A8D-8409-15DC9F62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7646670"/>
            <a:ext cx="5537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FE584-7884-486B-BB14-7DBD17E1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781050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Visual finding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9A679A-3F68-40D6-943E-5CE50245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8172450"/>
            <a:ext cx="5124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803D"/>
                </a:solidFill>
              </a:defRPr>
            </a:pPr>
            <a:r>
              <a:rPr sz="2550" b="1" i="0">
                <a:solidFill>
                  <a:srgbClr val="15803D"/>
                </a:solidFill>
              </a:rPr>
              <a:t>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B749FE-DF63-4749-8A63-678C2CC0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870585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no obvious grid pattern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3A2A3C-0146-472B-A5B7-FA6B156A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7646670"/>
            <a:ext cx="5537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4D3F12-5962-4B15-8073-63B6FD87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781050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Remaining caution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2261BE-3CFD-46DA-BDC3-F0980737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172450"/>
            <a:ext cx="5124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D97706"/>
                </a:solidFill>
              </a:defRPr>
            </a:pPr>
            <a:r>
              <a:rPr sz="2550" b="1" i="0">
                <a:solidFill>
                  <a:srgbClr val="D97706"/>
                </a:solidFill>
              </a:rPr>
              <a:t>Sample 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A74A1C-9255-4CB1-B0AF-32524B94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70585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larger visual review still useful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34BA6C-AAB9-4B37-B0E8-08A1F720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0"/>
            <a:ext cx="5581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Source: visual examples in results/2026-05-12-yifan-tiling-pilot/visual_examples_small/.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61CC44-943A-4A84-9324-43B23D0E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9334500"/>
            <a:ext cx="2705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CDC tiling weekly progress | May 12, 2026</a:t>
            </a:r>
          </a:p>
        </p:txBody>
      </p:sp>
    </p:spTree>
    <p:extLst>
      <p:ext uri="{BB962C8B-B14F-4D97-AF65-F5344CB8AC3E}">
        <p14:creationId xmlns:p14="http://schemas.microsoft.com/office/powerpoint/2010/main" val="10164692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4D5A2DE-87D3-461C-953E-01C62E97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F7F9F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352EC4-591C-45F7-BB78-62534BBE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916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172033"/>
                </a:solidFill>
              </a:defRPr>
            </a:pPr>
            <a:r>
              <a:rPr sz="3750" b="1" i="0">
                <a:solidFill>
                  <a:srgbClr val="172033"/>
                </a:solidFill>
              </a:rPr>
              <a:t>Decision: Use 512 x 512 as the Default Tiling Setup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E131D2B-6DEB-4569-B524-709D7F4F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238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B667A"/>
                </a:solidFill>
              </a:defRPr>
            </a:pPr>
            <a:r>
              <a:rPr sz="1800" b="0" i="0">
                <a:solidFill>
                  <a:srgbClr val="5B667A"/>
                </a:solidFill>
              </a:rPr>
              <a:t>The current evidence favors 512 x 512 for speed and memory, with 1024 x 1024 as a backup if larger visual checks reveal artifacts.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4C524-5990-46C2-BC33-C2E56727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55B20-7806-4293-8833-9E95E601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0290"/>
            <a:ext cx="8324850" cy="5242560"/>
          </a:xfrm>
          <a:prstGeom xmlns:a="http://schemas.openxmlformats.org/drawingml/2006/main" prst="roundRect">
            <a:avLst>
              <a:gd name="adj" fmla="val 1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A2BA2-EC49-4EB3-9FFA-DA6AEEEF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8890"/>
            <a:ext cx="1656112" cy="369570"/>
          </a:xfrm>
          <a:prstGeom xmlns:a="http://schemas.openxmlformats.org/drawingml/2006/main" prst="roundRect">
            <a:avLst>
              <a:gd name="adj" fmla="val 20619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68D35-F000-4384-A8B8-93A8C39A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1314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F766E"/>
                </a:solidFill>
              </a:defRPr>
            </a:pPr>
            <a:r>
              <a:rPr sz="1425" b="1" i="0">
                <a:solidFill>
                  <a:srgbClr val="0F766E"/>
                </a:solidFill>
              </a:rPr>
              <a:t>Recommended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41E22-88BB-4970-BA33-396054B8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56A4D-9BF8-4C53-8503-11C2AD48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7581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2033"/>
                </a:solidFill>
              </a:defRPr>
            </a:pPr>
            <a:r>
              <a:rPr sz="1725" b="1" i="0">
                <a:solidFill>
                  <a:srgbClr val="172033"/>
                </a:solidFill>
              </a:rPr>
              <a:t>Default setup: 512 x 512 tiles.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7F135-10FC-469B-8BB5-5B9F2860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9090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667A"/>
                </a:solidFill>
              </a:defRPr>
            </a:pPr>
            <a:r>
              <a:rPr sz="1425" b="0" i="0">
                <a:solidFill>
                  <a:srgbClr val="5B667A"/>
                </a:solidFill>
              </a:rPr>
              <a:t>Fastest runtime and largest memory drop in the eight-image pilot.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ECD53-2432-4FFF-B81C-5C667BBA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719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F16000-5A95-480C-94E8-EC4A41C2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71900"/>
            <a:ext cx="7581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2033"/>
                </a:solidFill>
              </a:defRPr>
            </a:pPr>
            <a:r>
              <a:rPr sz="1725" b="1" i="0">
                <a:solidFill>
                  <a:srgbClr val="172033"/>
                </a:solidFill>
              </a:rPr>
              <a:t>Use this result in the weekly update.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08EF5-4829-4D9D-9971-C18BCB5A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7670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667A"/>
                </a:solidFill>
              </a:defRPr>
            </a:pPr>
            <a:r>
              <a:rPr sz="1425" b="0" i="0">
                <a:solidFill>
                  <a:srgbClr val="5B667A"/>
                </a:solidFill>
              </a:rPr>
              <a:t>86.01s/image, 3.0 GB, compression ratio 68.79x, PSNR 29.73, SSIM 0.8822.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F17B7A-70D2-400F-82A3-34573329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D7C78-9576-4434-A3E2-81A661BE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76750"/>
            <a:ext cx="7581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2033"/>
                </a:solidFill>
              </a:defRPr>
            </a:pPr>
            <a:r>
              <a:rPr sz="1725" b="1" i="0">
                <a:solidFill>
                  <a:srgbClr val="172033"/>
                </a:solidFill>
              </a:rPr>
              <a:t>Mention artifact check honestly.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05A8F0-17C3-49DC-9453-A6151F86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62500"/>
            <a:ext cx="7581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667A"/>
                </a:solidFill>
              </a:defRPr>
            </a:pPr>
            <a:r>
              <a:rPr sz="1425" b="0" i="0">
                <a:solidFill>
                  <a:srgbClr val="5B667A"/>
                </a:solidFill>
              </a:rPr>
              <a:t>Checked examples show no obvious grid-like seams; larger-sample review remains a final-poster step.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469B10-8746-4008-9242-AD6F5C67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20290"/>
            <a:ext cx="8324850" cy="5242560"/>
          </a:xfrm>
          <a:prstGeom xmlns:a="http://schemas.openxmlformats.org/drawingml/2006/main" prst="roundRect">
            <a:avLst>
              <a:gd name="adj" fmla="val 1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462DD-1785-4412-BB59-797B73B8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48890"/>
            <a:ext cx="741807" cy="58674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8114F-019B-4FF2-B8F7-DA7B1C0A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28900"/>
            <a:ext cx="400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D97706"/>
                </a:solidFill>
              </a:defRPr>
            </a:pPr>
            <a:r>
              <a:rPr sz="1425" b="1" i="0">
                <a:solidFill>
                  <a:srgbClr val="D97706"/>
                </a:solidFill>
              </a:rPr>
              <a:t>Next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3226CF-2E54-4AEE-A2F9-A776B022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14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07BAE8-C409-4C60-AAC6-F8D8E235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14700"/>
            <a:ext cx="7581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2033"/>
                </a:solidFill>
              </a:defRPr>
            </a:pPr>
            <a:r>
              <a:rPr sz="1725" b="1" i="0">
                <a:solidFill>
                  <a:srgbClr val="172033"/>
                </a:solidFill>
              </a:rPr>
              <a:t>Run larger selected setup.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34E928-80CD-4E34-9F59-E105035D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0045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667A"/>
                </a:solidFill>
              </a:defRPr>
            </a:pPr>
            <a:r>
              <a:rPr sz="1425" b="0" i="0">
                <a:solidFill>
                  <a:srgbClr val="5B667A"/>
                </a:solidFill>
              </a:rPr>
              <a:t>Suggested run: N_IMAGES=50, primarily 512 x 512.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6EF7C9-0CA6-4E5A-AC58-F8F548CA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87C0FB-23AC-4840-9704-A4205815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00500"/>
            <a:ext cx="7581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2033"/>
                </a:solidFill>
              </a:defRPr>
            </a:pPr>
            <a:r>
              <a:rPr sz="1725" b="1" i="0">
                <a:solidFill>
                  <a:srgbClr val="172033"/>
                </a:solidFill>
              </a:rPr>
              <a:t>Keep 1024 x 1024 as backup.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7C0530-587C-4465-B7B2-719CBCC1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30530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667A"/>
                </a:solidFill>
              </a:defRPr>
            </a:pPr>
            <a:r>
              <a:rPr sz="1425" b="0" i="0">
                <a:solidFill>
                  <a:srgbClr val="5B667A"/>
                </a:solidFill>
              </a:rPr>
              <a:t>It is slightly slower and uses more memory, but quality metrics are close to no tiling.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8BCF4A-22F9-4FB8-90D5-96111814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863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83C2F3-3EC3-447A-ACE5-E62DB79C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686300"/>
            <a:ext cx="7581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2033"/>
                </a:solidFill>
              </a:defRPr>
            </a:pPr>
            <a:r>
              <a:rPr sz="1725" b="1" i="0">
                <a:solidFill>
                  <a:srgbClr val="172033"/>
                </a:solidFill>
              </a:rPr>
              <a:t>Prepare poster table.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E55763-E5BB-45C7-B679-65C03A26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99110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667A"/>
                </a:solidFill>
              </a:defRPr>
            </a:pPr>
            <a:r>
              <a:rPr sz="1425" b="0" i="0">
                <a:solidFill>
                  <a:srgbClr val="5B667A"/>
                </a:solidFill>
              </a:rPr>
              <a:t>Report time, memory, compression ratio, PSNR, SSIM, and artifact status.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4F6A7A-B59F-417A-BC1A-82ABE7F0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29550"/>
            <a:ext cx="55372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51FB65-5415-4935-B00B-877C548F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00100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Runtime reduction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8EBADF-F1D9-41EA-ACF6-84C32EFE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305800"/>
            <a:ext cx="5124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F766E"/>
                </a:solidFill>
              </a:defRPr>
            </a:pPr>
            <a:r>
              <a:rPr sz="2550" b="1" i="0">
                <a:solidFill>
                  <a:srgbClr val="0F766E"/>
                </a:solidFill>
              </a:rPr>
              <a:t>40.1%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EB459E-0F66-4E7F-BD37-36C75166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78205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143.55s to 86.01s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D0791A-80E9-42DD-B4A2-CE6A6069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7829550"/>
            <a:ext cx="55372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0ACD83-280A-4FB9-9BF5-BD34B6ED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800100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Memory reduction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CD9AD6-E386-47E7-9CB6-6BC1BE84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8305800"/>
            <a:ext cx="5124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803D"/>
                </a:solidFill>
              </a:defRPr>
            </a:pPr>
            <a:r>
              <a:rPr sz="2550" b="1" i="0">
                <a:solidFill>
                  <a:srgbClr val="15803D"/>
                </a:solidFill>
              </a:rPr>
              <a:t>17.2x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FC3F53-409E-42C5-907B-11A381E5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878205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52.0 GB to 3.0 GB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9C9971-090F-4192-8520-2803C267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7829550"/>
            <a:ext cx="55372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973002-78E0-412E-ACCD-EB82F4EE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00100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Current answer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38DC3F-23B0-4438-8A96-AA8A7FDE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305800"/>
            <a:ext cx="5124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563EB"/>
                </a:solidFill>
              </a:defRPr>
            </a:pPr>
            <a:r>
              <a:rPr sz="2550" b="1" i="0">
                <a:solidFill>
                  <a:srgbClr val="2563EB"/>
                </a:solidFill>
              </a:rPr>
              <a:t>Tiling helps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CD4F66-EE77-4825-86C8-80E8F2BB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78205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fast and storage-aware path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62F043-301F-460A-AD31-E308F4D3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05950"/>
            <a:ext cx="481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Source: committed pilot tables, visual examples, and weekly progress note.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4A2352-4F0E-476F-9DA0-09CD116F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9429750"/>
            <a:ext cx="2705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CDC tiling weekly progress | May 12, 2026</a:t>
            </a:r>
          </a:p>
        </p:txBody>
      </p:sp>
    </p:spTree>
    <p:extLst>
      <p:ext uri="{BB962C8B-B14F-4D97-AF65-F5344CB8AC3E}">
        <p14:creationId xmlns:p14="http://schemas.microsoft.com/office/powerpoint/2010/main" val="8476436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2026-05-12T06:58:06.2690000Z</dcterms:created>
  <dcterms:modified xsi:type="dcterms:W3CDTF">2026-05-12T06:58:06.2690000Z</dcterms:modified>
</coreProperties>
</file>