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ea3e8ad0ba4cd8" /><Relationship Type="http://schemas.openxmlformats.org/officeDocument/2006/relationships/extended-properties" Target="/docProps/app.xml" Id="R56faefb8d3414351" /><Relationship Type="http://schemas.openxmlformats.org/officeDocument/2006/relationships/officeDocument" Target="/ppt/presentation.xml" Id="Re59c4a9ce47147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13c115f414b93"/>
  </p:sldMasterIdLst>
  <p:notesMasterIdLst>
    <p:notesMasterId xmlns:r="http://schemas.openxmlformats.org/officeDocument/2006/relationships" r:id="R4a48318406524fe6"/>
  </p:notesMasterIdLst>
  <p:sldIdLst>
    <p:sldId xmlns:r="http://schemas.openxmlformats.org/officeDocument/2006/relationships" id="256" r:id="R87a2d4bbea8349e4"/>
    <p:sldId xmlns:r="http://schemas.openxmlformats.org/officeDocument/2006/relationships" id="257" r:id="Re4c47c3fe3854c49"/>
    <p:sldId xmlns:r="http://schemas.openxmlformats.org/officeDocument/2006/relationships" id="258" r:id="R669909d71f1244e4"/>
    <p:sldId xmlns:r="http://schemas.openxmlformats.org/officeDocument/2006/relationships" id="259" r:id="Reea753c340d44f11"/>
    <p:sldId xmlns:r="http://schemas.openxmlformats.org/officeDocument/2006/relationships" id="260" r:id="R9e444743085b4444"/>
    <p:sldId xmlns:r="http://schemas.openxmlformats.org/officeDocument/2006/relationships" id="261" r:id="R764c2db210404354"/>
    <p:sldId xmlns:r="http://schemas.openxmlformats.org/officeDocument/2006/relationships" id="262" r:id="R8211e596254b442b"/>
    <p:sldId xmlns:r="http://schemas.openxmlformats.org/officeDocument/2006/relationships" id="263" r:id="Raa55f71df90e4b94"/>
    <p:sldId xmlns:r="http://schemas.openxmlformats.org/officeDocument/2006/relationships" id="264" r:id="Rb2630addbca14bf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13c115f414b93" /><Relationship Type="http://schemas.openxmlformats.org/officeDocument/2006/relationships/theme" Target="/ppt/theme/theme1.xml" Id="Rc43169ba762445b0" /><Relationship Type="http://schemas.openxmlformats.org/officeDocument/2006/relationships/notesMaster" Target="/ppt/notesMasters/notesMaster1.xml" Id="R4a48318406524fe6" /><Relationship Type="http://schemas.openxmlformats.org/officeDocument/2006/relationships/presProps" Target="/ppt/presProps.xml" Id="Rbee37b9f0bef48d7" /><Relationship Type="http://schemas.openxmlformats.org/officeDocument/2006/relationships/viewProps" Target="/ppt/viewProps.xml" Id="R9bc698704bdb4c59" /><Relationship Type="http://schemas.openxmlformats.org/officeDocument/2006/relationships/tableStyles" Target="/ppt/tableStyles.xml" Id="R655092976a5f4ce3" /><Relationship Type="http://schemas.openxmlformats.org/officeDocument/2006/relationships/slide" Target="/ppt/slides/slide1.xml" Id="R87a2d4bbea8349e4" /><Relationship Type="http://schemas.openxmlformats.org/officeDocument/2006/relationships/slide" Target="/ppt/slides/slide2.xml" Id="Re4c47c3fe3854c49" /><Relationship Type="http://schemas.openxmlformats.org/officeDocument/2006/relationships/slide" Target="/ppt/slides/slide3.xml" Id="R669909d71f1244e4" /><Relationship Type="http://schemas.openxmlformats.org/officeDocument/2006/relationships/slide" Target="/ppt/slides/slide4.xml" Id="Reea753c340d44f11" /><Relationship Type="http://schemas.openxmlformats.org/officeDocument/2006/relationships/slide" Target="/ppt/slides/slide5.xml" Id="R9e444743085b4444" /><Relationship Type="http://schemas.openxmlformats.org/officeDocument/2006/relationships/slide" Target="/ppt/slides/slide6.xml" Id="R764c2db210404354" /><Relationship Type="http://schemas.openxmlformats.org/officeDocument/2006/relationships/slide" Target="/ppt/slides/slide7.xml" Id="R8211e596254b442b" /><Relationship Type="http://schemas.openxmlformats.org/officeDocument/2006/relationships/slide" Target="/ppt/slides/slide8.xml" Id="Raa55f71df90e4b94" /><Relationship Type="http://schemas.openxmlformats.org/officeDocument/2006/relationships/slide" Target="/ppt/slides/slide9.xml" Id="Rb2630addbca14b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6d9f7e380441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b5069021c548d5" /><Relationship Type="http://schemas.openxmlformats.org/officeDocument/2006/relationships/notesMaster" Target="/ppt/notesMasters/notesMaster1.xml" Id="R62b9927bb17e42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806b2abfc24057" /><Relationship Type="http://schemas.openxmlformats.org/officeDocument/2006/relationships/notesMaster" Target="/ppt/notesMasters/notesMaster1.xml" Id="R72ab83d8845e4c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5d175c1e3145dd" /><Relationship Type="http://schemas.openxmlformats.org/officeDocument/2006/relationships/notesMaster" Target="/ppt/notesMasters/notesMaster1.xml" Id="R5bc5d09029b740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b08c2ce7874d7c" /><Relationship Type="http://schemas.openxmlformats.org/officeDocument/2006/relationships/notesMaster" Target="/ppt/notesMasters/notesMaster1.xml" Id="R16ce0124797f47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7e9a5c27b84bb8" /><Relationship Type="http://schemas.openxmlformats.org/officeDocument/2006/relationships/notesMaster" Target="/ppt/notesMasters/notesMaster1.xml" Id="Rd8eb952ee2bc41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f4bb1fe2954c85" /><Relationship Type="http://schemas.openxmlformats.org/officeDocument/2006/relationships/notesMaster" Target="/ppt/notesMasters/notesMaster1.xml" Id="R9a937e2e054549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c3741da5544758" /><Relationship Type="http://schemas.openxmlformats.org/officeDocument/2006/relationships/notesMaster" Target="/ppt/notesMasters/notesMaster1.xml" Id="Re8794796a27a4c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b8614836134ead" /><Relationship Type="http://schemas.openxmlformats.org/officeDocument/2006/relationships/notesMaster" Target="/ppt/notesMasters/notesMaster1.xml" Id="Rc0e68a61055e46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63cac886564d5c" /><Relationship Type="http://schemas.openxmlformats.org/officeDocument/2006/relationships/notesMaster" Target="/ppt/notesMasters/notesMaster1.xml" Id="R00d27bf462894d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e2ae706c246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37169858414ad0" /><Relationship Type="http://schemas.openxmlformats.org/officeDocument/2006/relationships/slideLayout" Target="/ppt/slideLayouts/slideLayout2.xml" Id="R00b3eb964fab4f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3eb964fab4f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3496c0f253456b" /><Relationship Type="http://schemas.openxmlformats.org/officeDocument/2006/relationships/image" Target="/ppt/media/image.jpeg" Id="R4d9c6854a3434ae5" /><Relationship Type="http://schemas.openxmlformats.org/officeDocument/2006/relationships/notesSlide" Target="/ppt/notesSlides/notesSlide1.xml" Id="R8b022a68c99946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e7e86221504e4f" /><Relationship Type="http://schemas.openxmlformats.org/officeDocument/2006/relationships/notesSlide" Target="/ppt/notesSlides/notesSlide2.xml" Id="R1383e43f110c4f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400649f5c24ed0" /><Relationship Type="http://schemas.openxmlformats.org/officeDocument/2006/relationships/notesSlide" Target="/ppt/notesSlides/notesSlide3.xml" Id="Rac56723d374c4a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8ff8d773264447" /><Relationship Type="http://schemas.openxmlformats.org/officeDocument/2006/relationships/image" Target="/ppt/media/image.png" Id="R5194d4a9f85544cc" /><Relationship Type="http://schemas.openxmlformats.org/officeDocument/2006/relationships/notesSlide" Target="/ppt/notesSlides/notesSlide4.xml" Id="Re95019532a134f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d4fc45c2f8478f" /><Relationship Type="http://schemas.openxmlformats.org/officeDocument/2006/relationships/image" Target="/ppt/media/image2.png" Id="Racf4749564ea4cd1" /><Relationship Type="http://schemas.openxmlformats.org/officeDocument/2006/relationships/image" Target="/ppt/media/image3.png" Id="R9eb3dbe5bf554a59" /><Relationship Type="http://schemas.openxmlformats.org/officeDocument/2006/relationships/notesSlide" Target="/ppt/notesSlides/notesSlide5.xml" Id="R534e03e8cba24a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13a95f920440ba" /><Relationship Type="http://schemas.openxmlformats.org/officeDocument/2006/relationships/image" Target="/ppt/media/image4.png" Id="R1ac1bba6bbd443b2" /><Relationship Type="http://schemas.openxmlformats.org/officeDocument/2006/relationships/notesSlide" Target="/ppt/notesSlides/notesSlide6.xml" Id="R5001c2406e2945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63b9953c4f43c5" /><Relationship Type="http://schemas.openxmlformats.org/officeDocument/2006/relationships/chart" Target="/ppt/slides/charts/chart1.xml" Id="R03cb13f1b9e04f38" /><Relationship Type="http://schemas.openxmlformats.org/officeDocument/2006/relationships/notesSlide" Target="/ppt/notesSlides/notesSlide7.xml" Id="R3e434d35a0a347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e1ae7c5a9143ae" /><Relationship Type="http://schemas.openxmlformats.org/officeDocument/2006/relationships/image" Target="/ppt/media/image2.jpeg" Id="R0359608350ed44ab" /><Relationship Type="http://schemas.openxmlformats.org/officeDocument/2006/relationships/notesSlide" Target="/ppt/notesSlides/notesSlide8.xml" Id="R4527c1ff0c8840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be4bf5b8bb4fb6" /><Relationship Type="http://schemas.openxmlformats.org/officeDocument/2006/relationships/notesSlide" Target="/ppt/notesSlides/notesSlide9.xml" Id="Re0b1d545a95a47d1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Inference sec/image, fp32, lower is better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DeltaAI GH200</c:v>
          </c:tx>
          <c:cat>
            <c:strLit>
              <c:ptCount val="3"/>
              <c:pt idx="0">
                <c:v>5 steps</c:v>
              </c:pt>
              <c:pt idx="1">
                <c:v>20 steps</c:v>
              </c:pt>
              <c:pt idx="2">
                <c:v>65 steps</c:v>
              </c:pt>
            </c:strLit>
          </c:cat>
          <c:val>
            <c:numLit>
              <c:formatCode/>
              <c:ptCount val="3"/>
              <c:pt idx="0">
                <c:v>11.274</c:v>
              </c:pt>
              <c:pt idx="1">
                <c:v>44.365</c:v>
              </c:pt>
              <c:pt idx="2">
                <c:v>143.668</c:v>
              </c:pt>
            </c:numLit>
          </c:val>
        </c:ser>
        <c:ser>
          <c:idx val="1"/>
          <c:order val="1"/>
          <c:tx>
            <c:v>Delta H200</c:v>
          </c:tx>
          <c:cat>
            <c:strLit>
              <c:ptCount val="3"/>
              <c:pt idx="0">
                <c:v>5 steps</c:v>
              </c:pt>
              <c:pt idx="1">
                <c:v>20 steps</c:v>
              </c:pt>
              <c:pt idx="2">
                <c:v>65 steps</c:v>
              </c:pt>
            </c:strLit>
          </c:cat>
          <c:val>
            <c:numLit>
              <c:formatCode/>
              <c:ptCount val="3"/>
              <c:pt idx="0">
                <c:v>10.869</c:v>
              </c:pt>
              <c:pt idx="1">
                <c:v>42.741</c:v>
              </c:pt>
              <c:pt idx="2">
                <c:v>138.48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4DF53-7215-4AE4-ACC8-B44634D0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F994A-F43B-44C9-8587-DB6DB316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3070"/>
            <a:ext cx="1248251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2345C"/>
          </a:solidFill>
          <a:ln xmlns:a="http://schemas.openxmlformats.org/drawingml/2006/main" w="9525">
            <a:solidFill>
              <a:srgbClr val="1234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CF6A3-B053-49D9-A702-995D3CB2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914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BFE8FF"/>
                </a:solidFill>
              </a:defRPr>
            </a:pPr>
            <a:r>
              <a:rPr sz="1425" b="1" i="0">
                <a:solidFill>
                  <a:srgbClr val="BFE8FF"/>
                </a:solidFill>
              </a:rPr>
              <a:t>SC26 CDC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22F4-72D1-4850-9196-86199753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451" y="1703070"/>
            <a:ext cx="1670018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63B32"/>
          </a:solidFill>
          <a:ln xmlns:a="http://schemas.openxmlformats.org/drawingml/2006/main" w="9525">
            <a:solidFill>
              <a:srgbClr val="163B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80634-7DFC-4B54-A207-D1B1F345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71650"/>
            <a:ext cx="133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9F4E8"/>
                </a:solidFill>
              </a:defRPr>
            </a:pPr>
            <a:r>
              <a:rPr sz="1425" b="1" i="0">
                <a:solidFill>
                  <a:srgbClr val="C9F4E8"/>
                </a:solidFill>
              </a:rPr>
              <a:t>Reconstruction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8C52E-12BC-4B57-A32E-B694DDCE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71247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FFFFFF"/>
                </a:solidFill>
              </a:defRPr>
            </a:pPr>
            <a:r>
              <a:rPr sz="5700" b="1" i="0">
                <a:solidFill>
                  <a:srgbClr val="FFFFFF"/>
                </a:solidFill>
              </a:rPr>
              <a:t>CDC Reconstruction Weekly Progress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FDA36-C440-4260-83B7-A1B045C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6057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D7E3F5"/>
                </a:solidFill>
              </a:defRPr>
            </a:pPr>
            <a:r>
              <a:rPr sz="2250" b="0" i="0">
                <a:solidFill>
                  <a:srgbClr val="D7E3F5"/>
                </a:solidFill>
              </a:rPr>
              <a:t>DeltaAI GH200 baseline completed; Delta H200 comparison validated.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2504C-0A9B-4C14-A89D-220E1213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2824353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74D0A-CAB4-47BF-B12A-DD9A3A66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5532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Realistic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37730-8095-447D-AF73-3D0DF00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48500"/>
            <a:ext cx="2400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7DD3FC"/>
                </a:solidFill>
              </a:defRPr>
            </a:pPr>
            <a:r>
              <a:rPr sz="2400" b="1" i="0">
                <a:solidFill>
                  <a:srgbClr val="7DD3FC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E4F1E-7C5E-4B32-A15C-71FC3115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962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Full-resolution reconstruction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78704-6B33-49F7-921E-6A41AFB3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703" y="6381750"/>
            <a:ext cx="2824353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E76EB-9803-4721-8E29-47A973E4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532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Step sweep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4D610-7D35-4B38-8330-5A5084DB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048500"/>
            <a:ext cx="2400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86EFAC"/>
                </a:solidFill>
              </a:defRPr>
            </a:pPr>
            <a:r>
              <a:rPr sz="2400" b="1" i="0">
                <a:solidFill>
                  <a:srgbClr val="86EFAC"/>
                </a:solidFill>
              </a:rPr>
              <a:t>5-100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D6086-8AD1-4D86-87A9-CB42C65F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6962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GH200 full sweep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F8B55-3753-465F-ACC4-6631F207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06" y="6381750"/>
            <a:ext cx="2824353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848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0C3B5-18F2-4AF4-BD3A-0BB7CA09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5532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26134-2160-45A4-9B2A-B6D07633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048500"/>
            <a:ext cx="2400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DBA74"/>
                </a:solidFill>
              </a:defRPr>
            </a:pPr>
            <a:r>
              <a:rPr sz="2400" b="1" i="0">
                <a:solidFill>
                  <a:srgbClr val="FDBA74"/>
                </a:solidFill>
              </a:rPr>
              <a:t>2 systems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E62BD-9E03-4870-8F70-5B97719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6962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GH200 vs H200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1409B-CC41-4F5A-8D40-1A78B28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43900"/>
            <a:ext cx="882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D"/>
                </a:solidFill>
              </a:defRPr>
            </a:pPr>
            <a:r>
              <a:rPr sz="1575" b="0" i="0">
                <a:solidFill>
                  <a:srgbClr val="B9C7DD"/>
                </a:solidFill>
              </a:rPr>
              <a:t>Prepared for the week ending Apr 30,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F1DA0-D040-4961-919C-53A46531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209" y="666750"/>
            <a:ext cx="7509891" cy="8953500"/>
          </a:xfrm>
          <a:prstGeom xmlns:a="http://schemas.openxmlformats.org/drawingml/2006/main" prst="roundRect">
            <a:avLst>
              <a:gd name="adj" fmla="val 1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B5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c6854a3434ae5"/>
          <a:srcRect xmlns:a="http://schemas.openxmlformats.org/drawingml/2006/main" l="15758" t="0" r="15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5659" y="838200"/>
            <a:ext cx="7166991" cy="825246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0C56EA-ED8F-4290-91D3-4BBFE71E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239250"/>
            <a:ext cx="716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Visual check example: reconstructed drone imagery across denoising settings</a:t>
            </a:r>
          </a:p>
        </p:txBody>
      </p:sp>
    </p:spTree>
    <p:extLst>
      <p:ext uri="{BB962C8B-B14F-4D97-AF65-F5344CB8AC3E}">
        <p14:creationId xmlns:p14="http://schemas.microsoft.com/office/powerpoint/2010/main" val="1993987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19D94C-A601-4C8C-A54B-3A5BF980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544728-36C8-41DC-8A94-11708D6A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Experiment Structure Is Now Set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10333D-1B04-47A9-B42B-BC5AB2DC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906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The reconstruction task answers one question: how fast can we use the compressed data again?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7A1FC-0973-4CFB-A119-6B29514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4E8B1-0BCC-42E3-AC47-881E589F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0290"/>
            <a:ext cx="5499100" cy="5318760"/>
          </a:xfrm>
          <a:prstGeom xmlns:a="http://schemas.openxmlformats.org/drawingml/2006/main" prst="roundRect">
            <a:avLst>
              <a:gd name="adj" fmla="val 1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CAD55-661D-4FDA-9546-B59A2669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889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AD376-7194-4236-9399-0BCA18A1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563EB"/>
                </a:solidFill>
              </a:defRPr>
            </a:pPr>
            <a:r>
              <a:rPr sz="1425" b="1" i="0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8B325-54D7-47B4-AF95-490C94C7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5010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Single-image sanity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00EA3-54E0-4CD5-B340-121FC4C6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5010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667A"/>
                </a:solidFill>
              </a:defRPr>
            </a:pPr>
            <a:r>
              <a:rPr sz="1650" b="0" i="0">
                <a:solidFill>
                  <a:srgbClr val="5B667A"/>
                </a:solidFill>
              </a:rPr>
              <a:t>Run one full-resolution image first to verify model loading, inference, metrics, and output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3617E-3AC7-48CC-B7DB-11774D7B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20290"/>
            <a:ext cx="5499100" cy="5318760"/>
          </a:xfrm>
          <a:prstGeom xmlns:a="http://schemas.openxmlformats.org/drawingml/2006/main" prst="roundRect">
            <a:avLst>
              <a:gd name="adj" fmla="val 1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86A93-1B3C-4595-A78F-B4C0AB37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254889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13743-17EC-44F1-AFC7-4D74BAC8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C75AC-B4AB-42AD-BB6A-4CD9B6A0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5010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Realistic batch-size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7AD98-9B90-41C8-8345-2831F0E3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5010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667A"/>
                </a:solidFill>
              </a:defRPr>
            </a:pPr>
            <a:r>
              <a:rPr sz="1650" b="0" i="0">
                <a:solidFill>
                  <a:srgbClr val="5B667A"/>
                </a:solidFill>
              </a:rPr>
              <a:t>Test batch size under full-image memory pressure before longer sweeps. Current decision: batch size 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18D9-15ED-4B21-A719-6DA7C23B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320290"/>
            <a:ext cx="5499100" cy="5318760"/>
          </a:xfrm>
          <a:prstGeom xmlns:a="http://schemas.openxmlformats.org/drawingml/2006/main" prst="roundRect">
            <a:avLst>
              <a:gd name="adj" fmla="val 1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E3834-72C6-46D5-8866-93829F36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750" y="2548890"/>
            <a:ext cx="443484" cy="36957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3EB77-A09E-43AE-A48A-3ED5EF3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628900"/>
            <a:ext cx="9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45E30-F96F-49AF-A5CD-1CD9846C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086100"/>
            <a:ext cx="5010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2033"/>
                </a:solidFill>
              </a:defRPr>
            </a:pPr>
            <a:r>
              <a:rPr sz="2325" b="1" i="0">
                <a:solidFill>
                  <a:srgbClr val="172033"/>
                </a:solidFill>
              </a:rPr>
              <a:t>Repeated parameter sweeps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DFFFF-800F-4216-BA76-F132E9A5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19500"/>
            <a:ext cx="5010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667A"/>
                </a:solidFill>
              </a:defRPr>
            </a:pPr>
            <a:r>
              <a:rPr sz="1650" b="0" i="0">
                <a:solidFill>
                  <a:srgbClr val="5B667A"/>
                </a:solidFill>
              </a:rPr>
              <a:t>Repeat runs and average time, throughput, memory, PSNR, SSIM, and BPP for each setting.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65AFD-ABF9-49A3-871B-070862C9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0"/>
            <a:ext cx="4114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005BD-70A3-463D-AE0E-A0D76480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7720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Primary time metric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3BD49-FBC5-459C-A7BE-1B47E415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39150"/>
            <a:ext cx="3695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563EB"/>
                </a:solidFill>
              </a:defRPr>
            </a:pPr>
            <a:r>
              <a:rPr sz="2400" b="1" i="0">
                <a:solidFill>
                  <a:srgbClr val="2563EB"/>
                </a:solidFill>
              </a:rPr>
              <a:t>sec/image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B2AD6-6968-49F7-B733-2F3785F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Inference time and total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0ECC0-8E35-487F-8560-824D1081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905750"/>
            <a:ext cx="4114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E03BA-8CB7-409E-852A-AD16CD92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07720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Throughput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C33EF-E4BC-4CF7-8C76-A5AFD878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439150"/>
            <a:ext cx="3695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F766E"/>
                </a:solidFill>
              </a:defRPr>
            </a:pPr>
            <a:r>
              <a:rPr sz="2400" b="1" i="0">
                <a:solidFill>
                  <a:srgbClr val="0F766E"/>
                </a:solidFill>
              </a:rPr>
              <a:t>img/hr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4D5A4-5B79-43E4-A3EF-E0DE94DD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95350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Same format for Jacob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D0621F-C539-4CE4-9C3D-C66498FC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905750"/>
            <a:ext cx="4114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3B387-0D54-414D-A78A-E535F64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7720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Resource pressure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8EC0D-8D40-4C00-8328-0AAF1F2D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439150"/>
            <a:ext cx="3695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97706"/>
                </a:solidFill>
              </a:defRPr>
            </a:pPr>
            <a:r>
              <a:rPr sz="2400" b="1" i="0">
                <a:solidFill>
                  <a:srgbClr val="D97706"/>
                </a:solidFill>
              </a:rPr>
              <a:t>GPU memory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A9B42-2060-41CD-A39C-1494F7C5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95350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Peak memory per config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72C4DC-FA88-48FB-8B06-6D802358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905750"/>
            <a:ext cx="4114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7B4882-586B-44AC-A8C7-99CACF4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07720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Quality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2D2184-8E80-4CA8-AEB2-88A18B6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439150"/>
            <a:ext cx="3695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5803D"/>
                </a:solidFill>
              </a:defRPr>
            </a:pPr>
            <a:r>
              <a:rPr sz="2400" b="1" i="0">
                <a:solidFill>
                  <a:srgbClr val="15803D"/>
                </a:solidFill>
              </a:rPr>
              <a:t>PSNR / SSIM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854409-3A1F-4073-B184-724A7767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95350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BPP from fp32 rows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8F3BA6-A3C5-4350-BE77-7A392380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510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SC26 experiment design notes and committed reconstruction workflow.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3168A0-FBD1-45BF-8967-59C52DAE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60120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reconstruction weekly progress | Apr 30, 2026</a:t>
            </a:r>
          </a:p>
        </p:txBody>
      </p:sp>
    </p:spTree>
    <p:extLst>
      <p:ext uri="{BB962C8B-B14F-4D97-AF65-F5344CB8AC3E}">
        <p14:creationId xmlns:p14="http://schemas.microsoft.com/office/powerpoint/2010/main" val="10545006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498CDF6-F363-4A65-9147-9317993A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035D43-0E9D-4F68-AF74-C316673E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Compute Baseline Covers Both Systems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EB0811-A548-4F77-A2B1-323C74D8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7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We should describe the current baseline as DeltaAI GH200, then use Delta H200 for hardware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F163C-1F71-4C2D-9904-699BFF73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FE175-F4F9-4669-87C1-7E27A8CA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0290"/>
            <a:ext cx="9323832" cy="5109210"/>
          </a:xfrm>
          <a:prstGeom xmlns:a="http://schemas.openxmlformats.org/drawingml/2006/main" prst="roundRect">
            <a:avLst>
              <a:gd name="adj" fmla="val 1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0B79C-9A4C-42FC-8899-3925061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882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Confirmed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5C6CD-A448-48C6-B62D-5FC069B5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3240"/>
            <a:ext cx="171984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0E3DC-8648-4BCB-9CA8-1CAE3698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D3350-4600-45C2-9132-611ECF87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294" y="3063240"/>
            <a:ext cx="1261219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FAE45-1ADE-4793-BE21-02142E70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E8A5F-FAD2-4C6C-9936-A49EFC14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513" y="3063240"/>
            <a:ext cx="2178469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FC350-5EFD-438B-98A2-B7D04AF1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4325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857FC-91D8-4370-97E1-DBCB3696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982" y="3063240"/>
            <a:ext cx="366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A4DB9-E6E0-4737-AFCD-3BE19B77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Current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C8B24-C64A-4796-B08C-5A62FCEE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2340"/>
            <a:ext cx="171984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18D47-625D-44C3-8429-62F7C521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DeltaAI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EC0CC-67ED-45AE-AB07-F05A975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294" y="3482340"/>
            <a:ext cx="12612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7B30F-CBF5-47C8-A2A8-70BDC10D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81400"/>
            <a:ext cx="99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GH200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83947-EABA-4606-AD49-F8E81A1F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513" y="3482340"/>
            <a:ext cx="217846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BC323-CF2A-43D2-BBCA-BF5F4052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814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bfod-dtai-gh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AE598-3074-43F9-9122-4D9DFCA3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982" y="3482340"/>
            <a:ext cx="366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938634-810A-440A-BB46-FF09E9E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340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Completed full reconstruction sweep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A93ED-BA69-46A0-ABA2-ADA7E599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3840"/>
            <a:ext cx="171984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34991-3714-4EE8-9446-AF8C4E4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191C5-9181-4992-AEEC-D8327DB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294" y="4053840"/>
            <a:ext cx="12612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D8FB3-307F-450B-8353-3537ACA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52900"/>
            <a:ext cx="99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H200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1B596-CE0A-4B19-BA34-256075DF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513" y="4053840"/>
            <a:ext cx="217846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09746-00B0-4B79-9BD0-2BA3099F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529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bfod-delta-gpu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FEEFDD-5A1E-4E89-91B3-4BA28E8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982" y="4053840"/>
            <a:ext cx="366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1E964A-A5CC-4535-A4ED-21367FA8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2900"/>
            <a:ext cx="340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Validated quick comparison sweep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4451A7-2B00-4634-B56A-FF9F4A1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332" y="2320290"/>
            <a:ext cx="7325868" cy="5109210"/>
          </a:xfrm>
          <a:prstGeom xmlns:a="http://schemas.openxmlformats.org/drawingml/2006/main" prst="roundRect">
            <a:avLst>
              <a:gd name="adj" fmla="val 1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70DEE7-61B5-4F36-94C4-51839FA4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52700"/>
            <a:ext cx="6838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Important hardware distinction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304A2B-E245-47E0-87A2-97CEE0B3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67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9C1C6-19E2-4DE7-9F03-89F4E5E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6705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DeltaAI uses GH200.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82FB90-0C75-47A5-A01A-D17FBA71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7185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The 2026-04-26 reconstruction sweep belongs to this baseline.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778A27-E2B2-4726-8448-6CA5BBC1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771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5625CF-7AED-443F-907F-E0D619D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719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Delta has H200 partitions.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C7A8BA-6124-4B56-8FA1-B3C564E2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9575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`gpuH200x8` and `gpuH200x8-interactive` were visible on Apr 28.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F74933-878D-49C2-92FA-D4EFB73E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495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66DEAA-DB82-4CC0-8093-E260FA0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958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H100 is not confirmed.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05EB70-1652-4903-B703-961BF013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0060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No H100 partition appeared in the checked Delta `sinfo` output.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1DF88-CE00-4E6C-A330-0B088912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96200"/>
            <a:ext cx="4114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BA06DA-A9A7-457A-967A-B5663D02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8676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Delta H200 nodes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253D8E-B70A-4F9D-9D0C-D487FBCD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48650"/>
            <a:ext cx="3695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F766E"/>
                </a:solidFill>
              </a:defRPr>
            </a:pPr>
            <a:r>
              <a:rPr sz="2400" b="1" i="0">
                <a:solidFill>
                  <a:srgbClr val="0F766E"/>
                </a:solidFill>
              </a:rPr>
              <a:t>gpue[01-08]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F52FB2-5D64-405B-A7BA-11D8C259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7820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Observed in `sinfo`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CF3190-4803-4371-9DC4-5E7DFBE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696200"/>
            <a:ext cx="4114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F39DD7-F996-4D5F-A6EF-D20D3730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8676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H200 GPU memory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7E864F-D8D2-47AA-9C08-918A3E9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248650"/>
            <a:ext cx="3695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563EB"/>
                </a:solidFill>
              </a:defRPr>
            </a:pPr>
            <a:r>
              <a:rPr sz="2400" b="1" i="0">
                <a:solidFill>
                  <a:srgbClr val="2563EB"/>
                </a:solidFill>
              </a:rPr>
              <a:t>143.8 GB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A60C8C-A14C-47DE-AE65-3C83DE5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7820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NVIDIA H200 node check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7E8063-E2ED-4D22-AF85-D7CC0A9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696200"/>
            <a:ext cx="4114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EED1D6-4AD9-4C00-B78F-A3AFC9A7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8676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Delta balance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6D8636-56D5-425B-AABE-C26842BD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248650"/>
            <a:ext cx="3695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97706"/>
                </a:solidFill>
              </a:defRPr>
            </a:pPr>
            <a:r>
              <a:rPr sz="2400" b="1" i="0">
                <a:solidFill>
                  <a:srgbClr val="D97706"/>
                </a:solidFill>
              </a:rPr>
              <a:t>1076 / 2037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71D80F-E168-4A43-A0E2-927AEB08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7820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GPU hours on Apr 28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EEC4B0-B655-4FC5-A47B-E5A13FD8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696200"/>
            <a:ext cx="4114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B11123-E4DE-4123-9C7E-ABA65F55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8676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Runtime check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3E5786-FAFA-4AB6-8C83-052B1E5E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248650"/>
            <a:ext cx="3695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5803D"/>
                </a:solidFill>
              </a:defRPr>
            </a:pPr>
            <a:r>
              <a:rPr sz="2400" b="1" i="0">
                <a:solidFill>
                  <a:srgbClr val="15803D"/>
                </a:solidFill>
              </a:rPr>
              <a:t>PyTorch 2.8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A18EFF-EE35-4001-B04F-320D847D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7820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CUDA available on H200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12E5DB-FF56-48BE-8B13-2735E3CF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0"/>
            <a:ext cx="581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repository README, Delta login/resource checks, and NCSA Delta documentation.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AE9382-9161-4D36-9B7E-3897599F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50595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reconstruction weekly progress | Apr 30, 2026</a:t>
            </a:r>
          </a:p>
        </p:txBody>
      </p:sp>
    </p:spTree>
    <p:extLst>
      <p:ext uri="{BB962C8B-B14F-4D97-AF65-F5344CB8AC3E}">
        <p14:creationId xmlns:p14="http://schemas.microsoft.com/office/powerpoint/2010/main" val="1782099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A0B9C31-5EA4-49DB-927E-EE34705C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610D2B-3CAE-4961-A90B-A9473F7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DeltaAI GH200 Baseline Is Complete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CD0730B-E238-4CD0-B75E-CB96A99A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372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The full sweep shows diffusion inference dominates reconstruction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CEE6C-B012-4BDF-8DD7-39ED66DC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957DC-91A1-499B-BEB5-DE49553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0290"/>
            <a:ext cx="10156317" cy="6842760"/>
          </a:xfrm>
          <a:prstGeom xmlns:a="http://schemas.openxmlformats.org/drawingml/2006/main" prst="roundRect">
            <a:avLst>
              <a:gd name="adj" fmla="val 1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4d4a9f85544cc"/>
          <a:stretch xmlns:a="http://schemas.openxmlformats.org/drawingml/2006/main"/>
        </p:blipFill>
        <p:spPr>
          <a:xfrm xmlns:a="http://schemas.openxmlformats.org/drawingml/2006/main">
            <a:off x="857250" y="2674977"/>
            <a:ext cx="9813417" cy="61333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2F3C4-5221-4EAC-8CDC-A14E0610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817" y="2320290"/>
            <a:ext cx="6493383" cy="6842760"/>
          </a:xfrm>
          <a:prstGeom xmlns:a="http://schemas.openxmlformats.org/drawingml/2006/main" prst="roundRect">
            <a:avLst>
              <a:gd name="adj" fmla="val 1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A9324-5718-4F3A-A814-29F14D7C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552700"/>
            <a:ext cx="600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Key GH200 Findings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B6DD8-C67F-47C8-8683-FDF52ED4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067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98DBB-6CDC-4BCB-9903-87998386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6705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Batch size is fixed at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FED8B-D872-40DC-9F74-5FB5D721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71850"/>
            <a:ext cx="575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Batch size 2 caused CUDA OOM for full-image reconstruction.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A5B37-B924-484C-A487-BF055D10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771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49105-6691-4286-8C5A-4325E36C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77190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65-step fp32 profile takes 151.18 s/image.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E09FA-958C-444D-817B-175C539A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095750"/>
            <a:ext cx="575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Inference alone is 143.80 s/image, or 95.1% of runtime.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C4539-15C2-4E3E-8050-3D7D4F99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495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0672E-F6B3-473A-AEEF-ECEAAF35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9580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Reducing steps is the strongest speed lever.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286BA-D780-4F7B-93B6-10B3C7CB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800600"/>
            <a:ext cx="575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5-step fp32 is 11.27 s/image; 20-step fp32 is 44.37 s/image.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2B318-08B4-4A45-B00C-9AF3E0AE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200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8097B-273C-42C7-8DD4-29A63A02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20065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fp16 cuts memory pressure.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82614-239E-46DC-8D3D-5A4B051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505450"/>
            <a:ext cx="575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Peak memory drops from about 52.2 GB to 34.2 GB.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FAB1F-9546-4B57-BB18-04FC099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results/2026-04-26-reconstruction.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CFEEA-49E3-4733-9C3E-C929B5DD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50595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reconstruction weekly progress | Apr 30, 2026</a:t>
            </a:r>
          </a:p>
        </p:txBody>
      </p:sp>
    </p:spTree>
    <p:extLst>
      <p:ext uri="{BB962C8B-B14F-4D97-AF65-F5344CB8AC3E}">
        <p14:creationId xmlns:p14="http://schemas.microsoft.com/office/powerpoint/2010/main" val="377179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8A77F07-1F4E-4781-BC1D-30E35AC3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273D79-F88B-4049-B219-699B5CE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Speed Gains Come Mostly From Fewer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E8F41F-5E32-4BBD-8C41-DD787221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401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Quality falls gradually as step count increases, while runtime grows almost linearly.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E7AFF-69FD-4092-86DE-E2F6F1BB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5D10B-74E1-4CFF-8B13-B1D12C17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0290"/>
            <a:ext cx="8343900" cy="5433060"/>
          </a:xfrm>
          <a:prstGeom xmlns:a="http://schemas.openxmlformats.org/drawingml/2006/main" prst="roundRect">
            <a:avLst>
              <a:gd name="adj" fmla="val 1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4749564ea4cd1"/>
          <a:stretch xmlns:a="http://schemas.openxmlformats.org/drawingml/2006/main"/>
        </p:blipFill>
        <p:spPr>
          <a:xfrm xmlns:a="http://schemas.openxmlformats.org/drawingml/2006/main">
            <a:off x="857250" y="2536508"/>
            <a:ext cx="8001000" cy="500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13378-99C7-46BC-9EDE-893DA7A1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0290"/>
            <a:ext cx="8343900" cy="5433060"/>
          </a:xfrm>
          <a:prstGeom xmlns:a="http://schemas.openxmlformats.org/drawingml/2006/main" prst="roundRect">
            <a:avLst>
              <a:gd name="adj" fmla="val 1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3dbe5bf554a59"/>
          <a:stretch xmlns:a="http://schemas.openxmlformats.org/drawingml/2006/main"/>
        </p:blipFill>
        <p:spPr>
          <a:xfrm xmlns:a="http://schemas.openxmlformats.org/drawingml/2006/main">
            <a:off x="9429750" y="2536508"/>
            <a:ext cx="8001000" cy="5000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CCB85-5DDF-4A1C-9704-FF8504D0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55372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30029-F6CC-4067-8BA3-8B169BCE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191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Fastest GH200 setting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6C2C6-1583-467B-9D61-DAD049E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9630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F766E"/>
                </a:solidFill>
              </a:defRPr>
            </a:pPr>
            <a:r>
              <a:rPr sz="2400" b="1" i="0">
                <a:solidFill>
                  <a:srgbClr val="0F766E"/>
                </a:solidFill>
              </a:rPr>
              <a:t>5 steps fp16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FA7CC-30F9-4B80-B2F2-6B2BCE4E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10.47 s/image, 343.8 img/hr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F748E-9860-4E6D-9B24-C9050610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8020050"/>
            <a:ext cx="55372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846F7-4DBB-4914-A453-ABD07932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191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Report BPP with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FF770-438B-47D5-AACA-E3297C51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49630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563EB"/>
                </a:solidFill>
              </a:defRPr>
            </a:pPr>
            <a:r>
              <a:rPr sz="2400" b="1" i="0">
                <a:solidFill>
                  <a:srgbClr val="2563EB"/>
                </a:solidFill>
              </a:rPr>
              <a:t>fp32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47126-92CB-4630-B3A4-132C06BC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953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fp16 BPP is invalid in current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C46B1-ECAB-4A35-ADBF-1006FAE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8020050"/>
            <a:ext cx="55372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46E89-3564-49FD-B282-2CE4C752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191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Memory drop with fp16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7DF3F-FB3F-439C-A43D-885960F1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49630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97706"/>
                </a:solidFill>
              </a:defRPr>
            </a:pPr>
            <a:r>
              <a:rPr sz="2400" b="1" i="0">
                <a:solidFill>
                  <a:srgbClr val="D97706"/>
                </a:solidFill>
              </a:rPr>
              <a:t>34.5%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75550-0634-4C23-ACE3-FA0F34E2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9535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52.2 GB to 34.2 GB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31B00-AFBA-4F38-914C-20D05166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470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DeltaAI GH200 step sweep, batch size 1, N=15 per configuration.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BB797-DF41-47BA-ADF9-A71546BB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60120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reconstruction weekly progress | Apr 30, 2026</a:t>
            </a:r>
          </a:p>
        </p:txBody>
      </p:sp>
    </p:spTree>
    <p:extLst>
      <p:ext uri="{BB962C8B-B14F-4D97-AF65-F5344CB8AC3E}">
        <p14:creationId xmlns:p14="http://schemas.microsoft.com/office/powerpoint/2010/main" val="9566303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40F1826-2F7A-43D6-9064-E027617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F44607-4269-41C4-B1F4-7D981BD5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Delta H200 Is Runnable and Slightly Faster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EA83DF-73F0-42C0-B6E0-163C45F7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1068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A quick H200 sweep confirms the same workflow works on Delta and keeps batch size 1 as the best setting.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83CC0-BE26-453C-998A-84D2DE73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0A3DC-F59A-40A2-8A09-8A78A83E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5970"/>
            <a:ext cx="9823323" cy="7117080"/>
          </a:xfrm>
          <a:prstGeom xmlns:a="http://schemas.openxmlformats.org/drawingml/2006/main" prst="roundRect">
            <a:avLst>
              <a:gd name="adj" fmla="val 1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1bba6bbd443b2"/>
          <a:stretch xmlns:a="http://schemas.openxmlformats.org/drawingml/2006/main"/>
        </p:blipFill>
        <p:spPr>
          <a:xfrm xmlns:a="http://schemas.openxmlformats.org/drawingml/2006/main">
            <a:off x="857250" y="2641878"/>
            <a:ext cx="9480423" cy="59252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7F766-92B0-4928-9E61-BB0E6082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823" y="2045970"/>
            <a:ext cx="6826377" cy="7117080"/>
          </a:xfrm>
          <a:prstGeom xmlns:a="http://schemas.openxmlformats.org/drawingml/2006/main" prst="roundRect">
            <a:avLst>
              <a:gd name="adj" fmla="val 1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EB547-462F-4208-BC49-69174986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66950"/>
            <a:ext cx="6324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H200 Quick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46124-2001-4911-A7ED-7C224D3B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81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073EE-D963-4AC8-B717-76D2B222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781300"/>
            <a:ext cx="607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20-step fp32: 42.74 s/image.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75968-5D32-4638-8C17-3C895F5E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105150"/>
            <a:ext cx="607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Throughput is 84.2 img/hr with 52.2 GB peak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690A6-41D3-466E-A4AB-5057BA0E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505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A1FBE-CC47-49A6-8FF5-6EFA773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505200"/>
            <a:ext cx="607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65-step fp32: 138.48 s/image.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D0732-C00F-469B-85F1-D55C9091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0"/>
            <a:ext cx="607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Slightly faster than the GH200 65-step fp32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5E8A7-54FF-44ED-A2F3-17020522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210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ECF09-C137-40B7-A14F-9B94EEE8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10050"/>
            <a:ext cx="607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Batch size 2 fits but slows down.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59349-B07F-4ECE-8C20-40FA1A6E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33900"/>
            <a:ext cx="607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Pilot: batch 1 42.55 s/image; batch 2 53.14 s/image.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615D5-4358-420A-96D5-CF582C16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933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26D28-43A2-41AF-A4C3-16F5AAA9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33950"/>
            <a:ext cx="607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Decision remains batch size 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D2908-2745-4259-BE52-8A0C5AB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238750"/>
            <a:ext cx="6076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This is the realistic setting to share with Jacob for matched experiment design.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D179D-02FB-4F71-98F8-565E0AE6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results/2026-04-28-h200-reconstruction.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1D702-B476-4F99-9F41-885C2E6B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50595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reconstruction weekly progress | Apr 30, 2026</a:t>
            </a:r>
          </a:p>
        </p:txBody>
      </p:sp>
    </p:spTree>
    <p:extLst>
      <p:ext uri="{BB962C8B-B14F-4D97-AF65-F5344CB8AC3E}">
        <p14:creationId xmlns:p14="http://schemas.microsoft.com/office/powerpoint/2010/main" val="17456508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979EA3A-9DCF-4C40-85B8-C57C30C8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22AAFB-4E5E-42A8-BBF2-99542AEE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Matched GH200 vs H200 Comparison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4C02CE-BF80-4832-9F03-0AE572D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72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At the shared step counts, H200 improves timing modestly; it does not change the main bottleneck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D00E7-5658-451B-A0BF-1F04323E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5D119-6E4F-427A-B4CF-24022C6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5970"/>
            <a:ext cx="8741093" cy="7288530"/>
          </a:xfrm>
          <a:prstGeom xmlns:a="http://schemas.openxmlformats.org/drawingml/2006/main" prst="roundRect">
            <a:avLst>
              <a:gd name="adj" fmla="val 10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graphicFrame>
        <p:nvGraphicFramePr>
          <p:cNvPr id="6" name="matched-time-chart"/>
          <p:cNvGraphicFramePr/>
          <p:nvPr/>
        </p:nvGraphicFramePr>
        <p:xfrm>
          <a:off xmlns:a="http://schemas.openxmlformats.org/drawingml/2006/main" x="933450" y="2274570"/>
          <a:ext xmlns:a="http://schemas.openxmlformats.org/drawingml/2006/main" cx="8245793" cy="68313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cb13f1b9e04f3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7A7DE-DE7B-45F1-A9A8-836101DD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593" y="2045970"/>
            <a:ext cx="7908608" cy="7288530"/>
          </a:xfrm>
          <a:prstGeom xmlns:a="http://schemas.openxmlformats.org/drawingml/2006/main" prst="roundRect">
            <a:avLst>
              <a:gd name="adj" fmla="val 10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55702-365F-485D-8902-FD02D504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66950"/>
            <a:ext cx="741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What Changed on H200?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35A35-6203-458B-8C7C-3A389460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243" y="2788920"/>
            <a:ext cx="12545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E9DD3-6A65-46F5-9D70-1AB3D9B0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5750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88FE7-1C60-4402-975F-76B32C4F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802" y="2788920"/>
            <a:ext cx="2052916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83581-190A-4430-AA1D-F84B3838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0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GH200 fp32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2C4D9-0675-46F9-94B4-571D809D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718" y="2788920"/>
            <a:ext cx="2052916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A43A0-B693-44E9-93A7-24119A51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2857500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H200 fp32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F5E09-793D-4E67-8677-33D7B404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1634" y="2788920"/>
            <a:ext cx="2052916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2"/>
          </a:solidFill>
          <a:ln xmlns:a="http://schemas.openxmlformats.org/drawingml/2006/main" w="9525">
            <a:solidFill>
              <a:srgbClr val="0B1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6A463-5B54-4146-B07C-5334469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857500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H200 faster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7B7D6-FD69-4DE7-9E25-0AA40BD9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243" y="3208020"/>
            <a:ext cx="125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82507-118F-464D-8CA8-3ED2838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95650"/>
            <a:ext cx="99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5D277-C0C9-4AEC-A8A4-5DA8D043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802" y="32080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CA15B-CF8D-487C-A826-89528E99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956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11.27s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89EBE-D887-4429-A179-0BE0EE37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718" y="32080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9B667-EA9B-4587-B0DD-2053EFBC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2956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10.87s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513A6-A3E6-4117-8A2D-8F43FA5D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1634" y="32080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724AD-EE35-44A0-885F-96DC0DBD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2956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3.6%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3D2F7-0523-4D52-B234-C30478DF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243" y="3741420"/>
            <a:ext cx="125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2B857-F5AD-4E6A-9A1A-54793E85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29050"/>
            <a:ext cx="99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DABD0-B0BB-46D0-906C-7C10ECF5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802" y="37414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5B74B-4266-4BC1-8664-7E8CA43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290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44.37s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16F6DE-F6ED-408E-8BF9-E919469A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718" y="37414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57BF5-5516-4414-B223-4F2CF199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8290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42.74s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288EF9-0B7F-4BAF-936B-1C5522E7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1634" y="37414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C03035-05C9-4F9D-9B6B-C06C4AC2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8290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3.7%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32FE88-0531-40E2-8CBF-E4AD6D76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243" y="4274820"/>
            <a:ext cx="1254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94FC23-73D2-4FBA-AD35-F57689D4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62450"/>
            <a:ext cx="99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65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609032-C3EE-48A7-B4BF-D4780D2C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802" y="42748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2EB24B-AA11-4993-ADE0-38038333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3624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143.67s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048979-C702-467C-98D6-3FD6B7C4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718" y="42748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189230-300E-4E09-8753-8BE07057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3624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138.48s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F21A14-CE90-4ED8-8897-774BFA0F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1634" y="4274820"/>
            <a:ext cx="2052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416AA0-CE04-4E05-9EF3-1B6C397A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43624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3.6%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5BBDFE-FFC3-489C-A257-9C12A90F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243" y="4960620"/>
            <a:ext cx="3630454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36665-6E61-4360-946D-86F33155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124450"/>
            <a:ext cx="321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Average fp32 gain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9C64FF-B3F8-42CB-A08E-97D156DD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410200"/>
            <a:ext cx="3219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F766E"/>
                </a:solidFill>
              </a:defRPr>
            </a:pPr>
            <a:r>
              <a:rPr sz="2400" b="1" i="0">
                <a:solidFill>
                  <a:srgbClr val="0F766E"/>
                </a:solidFill>
              </a:rPr>
              <a:t>3.6%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71B942-D4E3-49BA-BCEE-2E042821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867400"/>
            <a:ext cx="321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H200 over GH200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4D0906-3C17-4B61-A982-C20E21B4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4096" y="4960620"/>
            <a:ext cx="3630454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743B17-5754-4610-9B68-3A074C1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124450"/>
            <a:ext cx="321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Average fp16 gain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5B9812-FF29-43C2-B37C-D9A30EC9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410200"/>
            <a:ext cx="3219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563EB"/>
                </a:solidFill>
              </a:defRPr>
            </a:pPr>
            <a:r>
              <a:rPr sz="2400" b="1" i="0">
                <a:solidFill>
                  <a:srgbClr val="2563EB"/>
                </a:solidFill>
              </a:rPr>
              <a:t>2.1%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EAB84A-B8F4-417B-8222-E51B4ED8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867400"/>
            <a:ext cx="321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H200 over GH200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07DFEB-E0DE-4FB9-9DFD-7EE41164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00800"/>
            <a:ext cx="741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667A"/>
                </a:solidFill>
              </a:defRPr>
            </a:pPr>
            <a:r>
              <a:rPr sz="1650" b="0" i="0">
                <a:solidFill>
                  <a:srgbClr val="5B667A"/>
                </a:solidFill>
              </a:rPr>
              <a:t>Interpretation: hardware helps a little, but the number of denoising steps remains the dominant runtime lever.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3E7CED-7036-4148-8F99-2490080A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GH200 and H200 sweep summary CSVs; matched steps 5, 20, and 65.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AF654E-6A34-4D8E-BF07-89D9F56C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60120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reconstruction weekly progress | Apr 30, 2026</a:t>
            </a:r>
          </a:p>
        </p:txBody>
      </p:sp>
    </p:spTree>
    <p:extLst>
      <p:ext uri="{BB962C8B-B14F-4D97-AF65-F5344CB8AC3E}">
        <p14:creationId xmlns:p14="http://schemas.microsoft.com/office/powerpoint/2010/main" val="13707975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A1E8DDC-B3FD-457C-AF19-744B30CE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DF101A-E36E-4EB3-991B-119C98F8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Visual Check Supports the Fast Settings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94D74E-A2D7-4CBA-A570-7CCE5853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515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The first GitHub-sized visual inspection did not show a clear failure at low step counts for this example.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32095-3D9A-4832-AB77-EAEE1B5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24149-CE54-4D28-B6AE-B432D5DE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0290"/>
            <a:ext cx="10406063" cy="7014210"/>
          </a:xfrm>
          <a:prstGeom xmlns:a="http://schemas.openxmlformats.org/drawingml/2006/main" prst="roundRect">
            <a:avLst>
              <a:gd name="adj" fmla="val 1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9608350ed44ab"/>
          <a:stretch xmlns:a="http://schemas.openxmlformats.org/drawingml/2006/main"/>
        </p:blipFill>
        <p:spPr>
          <a:xfrm xmlns:a="http://schemas.openxmlformats.org/drawingml/2006/main">
            <a:off x="1634676" y="2472690"/>
            <a:ext cx="8508310" cy="670941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9F755-FFE4-443E-9C43-6DED19EF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563" y="2320290"/>
            <a:ext cx="6243638" cy="701421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513A2-EA65-4308-8925-8D64D89C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552700"/>
            <a:ext cx="5753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</a:rPr>
              <a:t>Current Reading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13D48-AC83-412F-AA5D-E9E61AFC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67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E8A13-5360-4E56-AD55-A0B58A7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067050"/>
            <a:ext cx="550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5-step output passed a first visual check.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6FBC2-281C-44C5-970E-FEF64006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371850"/>
            <a:ext cx="5505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This is not a final perceptual study, but it supports testing fewer steps seriously.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E4409-98C3-4A57-9BD0-D0562898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000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41444-5CD6-4FD5-AACB-94680E1F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000500"/>
            <a:ext cx="550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Metrics stay close across practical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DB8F6-3946-4A7C-95DB-0A61BDD3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324350"/>
            <a:ext cx="5505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PSNR and SSIM decline slowly as runtime increases with more steps.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98620-B402-4071-9A92-5FD07C0B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953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32687-2553-4B0A-B20D-023E4F88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953000"/>
            <a:ext cx="550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Use the same figure style going forward.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B30F7-C22D-4EB8-9309-7B0119AD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257800"/>
            <a:ext cx="550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This gives Jacob a matching format for compression plots.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BA98B-9313-42AA-9FDD-B80C7F05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415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visual_examples_small/comparison_100_0005_0001.jpg.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92941-B23B-4B12-A208-C9D426AB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60120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reconstruction weekly progress | Apr 30, 2026</a:t>
            </a:r>
          </a:p>
        </p:txBody>
      </p:sp>
    </p:spTree>
    <p:extLst>
      <p:ext uri="{BB962C8B-B14F-4D97-AF65-F5344CB8AC3E}">
        <p14:creationId xmlns:p14="http://schemas.microsoft.com/office/powerpoint/2010/main" val="8673318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D891ADD-03CF-49C6-AE26-7D6DBEC1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F15F0D-DEDC-4303-8239-E958C6A8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916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33"/>
                </a:solidFill>
              </a:defRPr>
            </a:pPr>
            <a:r>
              <a:rPr sz="3750" b="1" i="0">
                <a:solidFill>
                  <a:srgbClr val="172033"/>
                </a:solidFill>
              </a:rPr>
              <a:t>This Week's Bottom Line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21A111-06EC-4239-9396-850B5EA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16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B667A"/>
                </a:solidFill>
              </a:defRPr>
            </a:pPr>
            <a:r>
              <a:rPr sz="1800" b="0" i="0">
                <a:solidFill>
                  <a:srgbClr val="5B667A"/>
                </a:solidFill>
              </a:rPr>
              <a:t>The reconstruction pipeline is now measured well enough to report, compare, and extend.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80DD7-A473-4F9F-981F-02A056E9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49093-C02A-47DA-BC9C-B58D27C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0290"/>
            <a:ext cx="8324850" cy="5242560"/>
          </a:xfrm>
          <a:prstGeom xmlns:a="http://schemas.openxmlformats.org/drawingml/2006/main" prst="roundRect">
            <a:avLst>
              <a:gd name="adj" fmla="val 1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07E13-C47F-4A35-A6E6-C8C4FAF1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8890"/>
            <a:ext cx="1290923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6EFA9-A581-4F5D-A03C-8A45A16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95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Completed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97CDE-25D7-4A26-BC11-F0BE9BB1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5251A-2325-4918-B0FC-F51EFAE6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DeltaAI GH200 full reconstruction sweep.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6B73B-6ACA-40A8-89DA-AB284460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758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Single-image test, batch pilot, repeated step sweep, fp32/fp16 plots, reports, and visual examples.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F2229-5F6E-43C6-B0BB-C91C5752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1232D-FB52-4470-BCC3-6A2DDB62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Delta H200 quick comparison sweep.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71302-CC43-470B-AAEF-23795987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758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H200 access, runtime, dependencies, batch pilot, and matched 5/20/65 step sweep are documented.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6111B-4307-485E-8181-641754D2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36614-2950-4043-B769-3CF2D612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GitHub organization by phase.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508F1-B5B9-4EFD-986A-9EEF7CA2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054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Results are stored by date and hardware target for meeting traceability.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8DF9B-E4CC-4826-80C5-CC90C33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20290"/>
            <a:ext cx="8324850" cy="5242560"/>
          </a:xfrm>
          <a:prstGeom xmlns:a="http://schemas.openxmlformats.org/drawingml/2006/main" prst="roundRect">
            <a:avLst>
              <a:gd name="adj" fmla="val 1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8479A-78AC-4CDD-A587-E9673FF9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48890"/>
            <a:ext cx="741807" cy="58674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5D73B-C615-4FE2-A4C1-6FA36528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289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776B6-7040-4874-94D0-940DDE28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205D1-650D-40E5-A34D-98AF6FB2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147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Run a full H200 sweep if the group wants a final hardware 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39681-459B-4A2E-9EF2-47B2F81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19500"/>
            <a:ext cx="758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The quick sweep is enough for direction; a full sweep would match all GH200 step counts.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259CC-7B0F-41A3-86D7-91051BB0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48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3741A-DFF5-4E2A-80B9-F0B1F7B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4815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Fix or explain fp16 BPP.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B4459-E862-4266-A7EA-7286FB0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529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Use fp32 for compression-ratio reporting until the invalid fp16 BPP is resolved.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E1502-9D06-4006-81A9-D32DF842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6CD58-DD25-42C2-94C7-9B68896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530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033"/>
                </a:solidFill>
              </a:defRPr>
            </a:pPr>
            <a:r>
              <a:rPr sz="1800" b="1" i="0">
                <a:solidFill>
                  <a:srgbClr val="172033"/>
                </a:solidFill>
              </a:rPr>
              <a:t>Test reconstruction optimizations.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2267C-F522-40EB-AD61-62C58F13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276850"/>
            <a:ext cx="758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67A"/>
                </a:solidFill>
              </a:defRPr>
            </a:pPr>
            <a:r>
              <a:rPr sz="1500" b="0" i="0">
                <a:solidFill>
                  <a:srgbClr val="5B667A"/>
                </a:solidFill>
              </a:rPr>
              <a:t>Candidate next knobs: fewer steps, tiled reconstruction, reuse loaded model, and multi-GPU inference.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92EC08-09C2-4471-9504-C5B88A04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29550"/>
            <a:ext cx="5537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5963B-9D60-41EF-8413-A977F36E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010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Recommended batch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D38C8E-5D80-40B6-A38B-8E5C0542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0580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563EB"/>
                </a:solidFill>
              </a:defRPr>
            </a:pPr>
            <a:r>
              <a:rPr sz="2400" b="1" i="0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2462C-574C-42B8-91B3-B44A3F23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7820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Full-resolution workload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5003F0-4B5C-418C-9765-7D1B1B4D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7829550"/>
            <a:ext cx="5537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53A2B9-6B4D-4B07-8DA0-F24EBD2D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0010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Best speed lever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2EF556-F61E-4131-BF34-1304762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30580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F766E"/>
                </a:solidFill>
              </a:defRPr>
            </a:pPr>
            <a:r>
              <a:rPr sz="2400" b="1" i="0">
                <a:solidFill>
                  <a:srgbClr val="0F766E"/>
                </a:solidFill>
              </a:rPr>
              <a:t>steps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5CBB50-8456-4EC3-AEDE-12ADDCF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7820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5-step setting is fastest so far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8EF39D-1B4B-42EA-91DC-825EB4F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7829550"/>
            <a:ext cx="5537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77BA18-B910-4224-8F24-3B400F96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0010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667A"/>
                </a:solidFill>
              </a:defRPr>
            </a:pPr>
            <a:r>
              <a:rPr sz="1350" b="1" i="0">
                <a:solidFill>
                  <a:srgbClr val="5B667A"/>
                </a:solidFill>
              </a:rPr>
              <a:t>Comparison target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4F682B-595F-42F0-9FD5-919419E7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305800"/>
            <a:ext cx="512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97706"/>
                </a:solidFill>
              </a:defRPr>
            </a:pPr>
            <a:r>
              <a:rPr sz="2400" b="1" i="0">
                <a:solidFill>
                  <a:srgbClr val="D97706"/>
                </a:solidFill>
              </a:rPr>
              <a:t>GH200 vs H200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87C281-81CD-4ED1-A4AC-39BEB59D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78205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H100 not confirmed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00A9DE-8760-45F3-8321-8B6511EF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0"/>
            <a:ext cx="3790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Source: committed repository results through Apr 30, 2026.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3C8B7D-184E-42A7-879B-C83EAC05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50595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rPr sz="1125" b="0" i="0">
                <a:solidFill>
                  <a:srgbClr val="6B7280"/>
                </a:solidFill>
              </a:rPr>
              <a:t>CDC reconstruction weekly progress | Apr 30, 2026</a:t>
            </a:r>
          </a:p>
        </p:txBody>
      </p:sp>
    </p:spTree>
    <p:extLst>
      <p:ext uri="{BB962C8B-B14F-4D97-AF65-F5344CB8AC3E}">
        <p14:creationId xmlns:p14="http://schemas.microsoft.com/office/powerpoint/2010/main" val="1145339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2026-04-30T17:28:26.8220000Z</dcterms:created>
  <dcterms:modified xsi:type="dcterms:W3CDTF">2026-04-30T17:28:26.8220000Z</dcterms:modified>
</coreProperties>
</file>